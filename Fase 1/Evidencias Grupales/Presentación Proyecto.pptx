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Genty Sans" charset="1" panose="00000600000000000000"/>
      <p:regular r:id="rId24"/>
    </p:embeddedFont>
    <p:embeddedFont>
      <p:font typeface="Hero" charset="1" panose="00000500000000000000"/>
      <p:regular r:id="rId25"/>
    </p:embeddedFont>
    <p:embeddedFont>
      <p:font typeface="Arimo" charset="1" panose="020B0604020202020204"/>
      <p:regular r:id="rId26"/>
    </p:embeddedFont>
    <p:embeddedFont>
      <p:font typeface="Hero Bold" charset="1" panose="00000500000000000000"/>
      <p:regular r:id="rId27"/>
    </p:embeddedFont>
    <p:embeddedFont>
      <p:font typeface="Open Sans" charset="1" panose="020B0606030504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1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0.pn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0.pn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1.png" Type="http://schemas.openxmlformats.org/officeDocument/2006/relationships/image"/><Relationship Id="rId12" Target="../media/image48.png" Type="http://schemas.openxmlformats.org/officeDocument/2006/relationships/image"/><Relationship Id="rId13" Target="../media/image20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1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png" Type="http://schemas.openxmlformats.org/officeDocument/2006/relationships/image"/><Relationship Id="rId12" Target="../media/image60.png" Type="http://schemas.openxmlformats.org/officeDocument/2006/relationships/image"/><Relationship Id="rId13" Target="../media/image61.png" Type="http://schemas.openxmlformats.org/officeDocument/2006/relationships/image"/><Relationship Id="rId14" Target="../media/image62.svg" Type="http://schemas.openxmlformats.org/officeDocument/2006/relationships/image"/><Relationship Id="rId15" Target="../media/image33.png" Type="http://schemas.openxmlformats.org/officeDocument/2006/relationships/image"/><Relationship Id="rId16" Target="../media/image63.png" Type="http://schemas.openxmlformats.org/officeDocument/2006/relationships/image"/><Relationship Id="rId17" Target="../media/image64.png" Type="http://schemas.openxmlformats.org/officeDocument/2006/relationships/image"/><Relationship Id="rId18" Target="../media/image65.png" Type="http://schemas.openxmlformats.org/officeDocument/2006/relationships/image"/><Relationship Id="rId19" Target="../media/image66.png" Type="http://schemas.openxmlformats.org/officeDocument/2006/relationships/image"/><Relationship Id="rId2" Target="../media/image1.png" Type="http://schemas.openxmlformats.org/officeDocument/2006/relationships/image"/><Relationship Id="rId20" Target="../media/image67.png" Type="http://schemas.openxmlformats.org/officeDocument/2006/relationships/image"/><Relationship Id="rId21" Target="../media/image68.png" Type="http://schemas.openxmlformats.org/officeDocument/2006/relationships/image"/><Relationship Id="rId22" Target="../media/image20.png" Type="http://schemas.openxmlformats.org/officeDocument/2006/relationships/image"/><Relationship Id="rId23" Target="../media/image69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71.svg" Type="http://schemas.openxmlformats.org/officeDocument/2006/relationships/image"/><Relationship Id="rId4" Target="../media/image1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15.png" Type="http://schemas.openxmlformats.org/officeDocument/2006/relationships/image"/><Relationship Id="rId8" Target="../media/image7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5174">
            <a:off x="2600303" y="-5177592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7855" y="2244393"/>
            <a:ext cx="15330759" cy="2104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40"/>
              </a:lnSpc>
              <a:spcBef>
                <a:spcPct val="0"/>
              </a:spcBef>
            </a:pPr>
            <a:r>
              <a:rPr lang="en-US" sz="13784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BALANCORE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661222">
            <a:off x="10670923" y="4350099"/>
            <a:ext cx="5605326" cy="4677900"/>
          </a:xfrm>
          <a:custGeom>
            <a:avLst/>
            <a:gdLst/>
            <a:ahLst/>
            <a:cxnLst/>
            <a:rect r="r" b="b" t="t" l="l"/>
            <a:pathLst>
              <a:path h="4677900" w="5605326">
                <a:moveTo>
                  <a:pt x="0" y="0"/>
                </a:moveTo>
                <a:lnTo>
                  <a:pt x="5605327" y="0"/>
                </a:lnTo>
                <a:lnTo>
                  <a:pt x="5605327" y="4677900"/>
                </a:lnTo>
                <a:lnTo>
                  <a:pt x="0" y="4677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33910" y="6875173"/>
            <a:ext cx="5098116" cy="2326595"/>
          </a:xfrm>
          <a:custGeom>
            <a:avLst/>
            <a:gdLst/>
            <a:ahLst/>
            <a:cxnLst/>
            <a:rect r="r" b="b" t="t" l="l"/>
            <a:pathLst>
              <a:path h="2326595" w="5098116">
                <a:moveTo>
                  <a:pt x="0" y="0"/>
                </a:moveTo>
                <a:lnTo>
                  <a:pt x="5098116" y="0"/>
                </a:lnTo>
                <a:lnTo>
                  <a:pt x="5098116" y="2326595"/>
                </a:lnTo>
                <a:lnTo>
                  <a:pt x="0" y="23265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95174">
            <a:off x="-5129441" y="8044903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879790" y="7236951"/>
            <a:ext cx="528850" cy="769491"/>
          </a:xfrm>
          <a:custGeom>
            <a:avLst/>
            <a:gdLst/>
            <a:ahLst/>
            <a:cxnLst/>
            <a:rect r="r" b="b" t="t" l="l"/>
            <a:pathLst>
              <a:path h="769491" w="528850">
                <a:moveTo>
                  <a:pt x="0" y="0"/>
                </a:moveTo>
                <a:lnTo>
                  <a:pt x="528850" y="0"/>
                </a:lnTo>
                <a:lnTo>
                  <a:pt x="528850" y="769491"/>
                </a:lnTo>
                <a:lnTo>
                  <a:pt x="0" y="76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85031">
            <a:off x="-2643670" y="5159073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353605">
            <a:off x="15736672" y="8303205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1"/>
                </a:lnTo>
                <a:lnTo>
                  <a:pt x="0" y="11454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2274937"/>
            <a:ext cx="799503" cy="1163297"/>
          </a:xfrm>
          <a:custGeom>
            <a:avLst/>
            <a:gdLst/>
            <a:ahLst/>
            <a:cxnLst/>
            <a:rect r="r" b="b" t="t" l="l"/>
            <a:pathLst>
              <a:path h="1163297" w="799503">
                <a:moveTo>
                  <a:pt x="0" y="0"/>
                </a:moveTo>
                <a:lnTo>
                  <a:pt x="799503" y="0"/>
                </a:lnTo>
                <a:lnTo>
                  <a:pt x="799503" y="1163297"/>
                </a:lnTo>
                <a:lnTo>
                  <a:pt x="0" y="1163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34692" y="1488050"/>
            <a:ext cx="540805" cy="786886"/>
          </a:xfrm>
          <a:custGeom>
            <a:avLst/>
            <a:gdLst/>
            <a:ahLst/>
            <a:cxnLst/>
            <a:rect r="r" b="b" t="t" l="l"/>
            <a:pathLst>
              <a:path h="786886" w="540805">
                <a:moveTo>
                  <a:pt x="0" y="0"/>
                </a:moveTo>
                <a:lnTo>
                  <a:pt x="540806" y="0"/>
                </a:lnTo>
                <a:lnTo>
                  <a:pt x="540806" y="786887"/>
                </a:lnTo>
                <a:lnTo>
                  <a:pt x="0" y="7868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459725" y="3438234"/>
            <a:ext cx="576272" cy="838491"/>
          </a:xfrm>
          <a:custGeom>
            <a:avLst/>
            <a:gdLst/>
            <a:ahLst/>
            <a:cxnLst/>
            <a:rect r="r" b="b" t="t" l="l"/>
            <a:pathLst>
              <a:path h="838491" w="576272">
                <a:moveTo>
                  <a:pt x="0" y="0"/>
                </a:moveTo>
                <a:lnTo>
                  <a:pt x="576272" y="0"/>
                </a:lnTo>
                <a:lnTo>
                  <a:pt x="576272" y="838491"/>
                </a:lnTo>
                <a:lnTo>
                  <a:pt x="0" y="838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32325" y="7236951"/>
            <a:ext cx="6481104" cy="2881367"/>
            <a:chOff x="0" y="0"/>
            <a:chExt cx="1706957" cy="7588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957" cy="758879"/>
            </a:xfrm>
            <a:custGeom>
              <a:avLst/>
              <a:gdLst/>
              <a:ahLst/>
              <a:cxnLst/>
              <a:rect r="r" b="b" t="t" l="l"/>
              <a:pathLst>
                <a:path h="758879" w="1706957">
                  <a:moveTo>
                    <a:pt x="113481" y="0"/>
                  </a:moveTo>
                  <a:lnTo>
                    <a:pt x="1593476" y="0"/>
                  </a:lnTo>
                  <a:cubicBezTo>
                    <a:pt x="1656150" y="0"/>
                    <a:pt x="1706957" y="50807"/>
                    <a:pt x="1706957" y="113481"/>
                  </a:cubicBezTo>
                  <a:lnTo>
                    <a:pt x="1706957" y="645398"/>
                  </a:lnTo>
                  <a:cubicBezTo>
                    <a:pt x="1706957" y="675495"/>
                    <a:pt x="1695001" y="704359"/>
                    <a:pt x="1673720" y="725641"/>
                  </a:cubicBezTo>
                  <a:cubicBezTo>
                    <a:pt x="1652438" y="746923"/>
                    <a:pt x="1623573" y="758879"/>
                    <a:pt x="1593476" y="758879"/>
                  </a:cubicBezTo>
                  <a:lnTo>
                    <a:pt x="113481" y="758879"/>
                  </a:lnTo>
                  <a:cubicBezTo>
                    <a:pt x="83384" y="758879"/>
                    <a:pt x="54520" y="746923"/>
                    <a:pt x="33238" y="725641"/>
                  </a:cubicBezTo>
                  <a:cubicBezTo>
                    <a:pt x="11956" y="704359"/>
                    <a:pt x="0" y="675495"/>
                    <a:pt x="0" y="645398"/>
                  </a:cubicBezTo>
                  <a:lnTo>
                    <a:pt x="0" y="113481"/>
                  </a:lnTo>
                  <a:cubicBezTo>
                    <a:pt x="0" y="83384"/>
                    <a:pt x="11956" y="54520"/>
                    <a:pt x="33238" y="33238"/>
                  </a:cubicBezTo>
                  <a:cubicBezTo>
                    <a:pt x="54520" y="11956"/>
                    <a:pt x="83384" y="0"/>
                    <a:pt x="113481" y="0"/>
                  </a:cubicBezTo>
                  <a:close/>
                </a:path>
              </a:pathLst>
            </a:custGeom>
            <a:solidFill>
              <a:srgbClr val="C6C6C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706957" cy="806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86179" y="173968"/>
            <a:ext cx="4108442" cy="1505491"/>
          </a:xfrm>
          <a:custGeom>
            <a:avLst/>
            <a:gdLst/>
            <a:ahLst/>
            <a:cxnLst/>
            <a:rect r="r" b="b" t="t" l="l"/>
            <a:pathLst>
              <a:path h="1505491" w="4108442">
                <a:moveTo>
                  <a:pt x="0" y="0"/>
                </a:moveTo>
                <a:lnTo>
                  <a:pt x="4108442" y="0"/>
                </a:lnTo>
                <a:lnTo>
                  <a:pt x="4108442" y="1505491"/>
                </a:lnTo>
                <a:lnTo>
                  <a:pt x="0" y="150549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20581" y="7582260"/>
            <a:ext cx="5704592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3"/>
              </a:lnSpc>
            </a:pPr>
            <a:r>
              <a:rPr lang="en-US" sz="29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Integrantes: Paz Osorio</a:t>
            </a:r>
          </a:p>
          <a:p>
            <a:pPr algn="l">
              <a:lnSpc>
                <a:spcPts val="3493"/>
              </a:lnSpc>
            </a:pPr>
            <a:r>
              <a:rPr lang="en-US" sz="29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                      Danilo Bettancourt</a:t>
            </a:r>
          </a:p>
          <a:p>
            <a:pPr algn="l">
              <a:lnSpc>
                <a:spcPts val="3493"/>
              </a:lnSpc>
            </a:pPr>
            <a:r>
              <a:rPr lang="en-US" sz="29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                      Isaias Vejar</a:t>
            </a:r>
          </a:p>
          <a:p>
            <a:pPr algn="l">
              <a:lnSpc>
                <a:spcPts val="3493"/>
              </a:lnSpc>
            </a:pPr>
            <a:r>
              <a:rPr lang="en-US" sz="29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Asignatura: Capstone 800D</a:t>
            </a:r>
          </a:p>
          <a:p>
            <a:pPr algn="l">
              <a:lnSpc>
                <a:spcPts val="3493"/>
              </a:lnSpc>
              <a:spcBef>
                <a:spcPct val="0"/>
              </a:spcBef>
            </a:pPr>
            <a:r>
              <a:rPr lang="en-US" sz="29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Profesor: Aldo Martinez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99627" y="211956"/>
            <a:ext cx="3586780" cy="3032459"/>
          </a:xfrm>
          <a:custGeom>
            <a:avLst/>
            <a:gdLst/>
            <a:ahLst/>
            <a:cxnLst/>
            <a:rect r="r" b="b" t="t" l="l"/>
            <a:pathLst>
              <a:path h="3032459" w="3586780">
                <a:moveTo>
                  <a:pt x="0" y="0"/>
                </a:moveTo>
                <a:lnTo>
                  <a:pt x="3586779" y="0"/>
                </a:lnTo>
                <a:lnTo>
                  <a:pt x="3586779" y="3032459"/>
                </a:lnTo>
                <a:lnTo>
                  <a:pt x="0" y="30324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8893" y="1216969"/>
            <a:ext cx="8030258" cy="119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28"/>
              </a:lnSpc>
              <a:spcBef>
                <a:spcPct val="0"/>
              </a:spcBef>
            </a:pPr>
            <a:r>
              <a:rPr lang="en-US" sz="7773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INTRODUCCIÓN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795174">
            <a:off x="2600303" y="-5177592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95174">
            <a:off x="-4612695" y="8060633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2" y="0"/>
                </a:lnTo>
                <a:lnTo>
                  <a:pt x="19558042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136042">
            <a:off x="2917428" y="3413258"/>
            <a:ext cx="2129780" cy="4648330"/>
          </a:xfrm>
          <a:custGeom>
            <a:avLst/>
            <a:gdLst/>
            <a:ahLst/>
            <a:cxnLst/>
            <a:rect r="r" b="b" t="t" l="l"/>
            <a:pathLst>
              <a:path h="4648330" w="2129780">
                <a:moveTo>
                  <a:pt x="0" y="0"/>
                </a:moveTo>
                <a:lnTo>
                  <a:pt x="2129780" y="0"/>
                </a:lnTo>
                <a:lnTo>
                  <a:pt x="2129780" y="4648330"/>
                </a:lnTo>
                <a:lnTo>
                  <a:pt x="0" y="46483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353605">
            <a:off x="16618401" y="3590127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353605">
            <a:off x="-2913540" y="5499602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55028" y="3367243"/>
            <a:ext cx="11268989" cy="533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D5C5C"/>
                </a:solidFill>
                <a:latin typeface="Arimo"/>
                <a:ea typeface="Arimo"/>
                <a:cs typeface="Arimo"/>
                <a:sym typeface="Arimo"/>
              </a:rPr>
              <a:t>•En Chile, más del 70% de los adultos tiene sobrepeso u obesidad.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D5C5C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r>
              <a:rPr lang="en-US" sz="3000">
                <a:solidFill>
                  <a:srgbClr val="5D5C5C"/>
                </a:solidFill>
                <a:latin typeface="Arimo"/>
                <a:ea typeface="Arimo"/>
                <a:cs typeface="Arimo"/>
                <a:sym typeface="Arimo"/>
              </a:rPr>
              <a:t>El uso de celurares y apps de salud ha crecido fuertemente post-pandemia.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D5C5C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r>
              <a:rPr lang="en-US" sz="3000">
                <a:solidFill>
                  <a:srgbClr val="5D5C5C"/>
                </a:solidFill>
                <a:latin typeface="Arimo"/>
                <a:ea typeface="Arimo"/>
                <a:cs typeface="Arimo"/>
                <a:sym typeface="Arimo"/>
              </a:rPr>
              <a:t>Cada vez más personas buscan monitorear su alimentación, actividad física e hidratación desde un solo lugar.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D5C5C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r>
              <a:rPr lang="en-US" sz="3000">
                <a:solidFill>
                  <a:srgbClr val="5D5C5C"/>
                </a:solidFill>
                <a:latin typeface="Arimo"/>
                <a:ea typeface="Arimo"/>
                <a:cs typeface="Arimo"/>
                <a:sym typeface="Arimo"/>
              </a:rPr>
              <a:t>Nace Balancore: una app chilena, pensada para hábitos de vida saludable, todo en una sola plataforma.</a:t>
            </a:r>
            <a:r>
              <a:rPr lang="en-US" sz="3000">
                <a:solidFill>
                  <a:srgbClr val="5D5C5C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48580" y="298162"/>
            <a:ext cx="3776267" cy="928332"/>
          </a:xfrm>
          <a:custGeom>
            <a:avLst/>
            <a:gdLst/>
            <a:ahLst/>
            <a:cxnLst/>
            <a:rect r="r" b="b" t="t" l="l"/>
            <a:pathLst>
              <a:path h="928332" w="3776267">
                <a:moveTo>
                  <a:pt x="0" y="0"/>
                </a:moveTo>
                <a:lnTo>
                  <a:pt x="3776268" y="0"/>
                </a:lnTo>
                <a:lnTo>
                  <a:pt x="3776268" y="928332"/>
                </a:lnTo>
                <a:lnTo>
                  <a:pt x="0" y="9283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82492" y="4821254"/>
            <a:ext cx="4369650" cy="3297100"/>
          </a:xfrm>
          <a:custGeom>
            <a:avLst/>
            <a:gdLst/>
            <a:ahLst/>
            <a:cxnLst/>
            <a:rect r="r" b="b" t="t" l="l"/>
            <a:pathLst>
              <a:path h="3297100" w="4369650">
                <a:moveTo>
                  <a:pt x="0" y="0"/>
                </a:moveTo>
                <a:lnTo>
                  <a:pt x="4369650" y="0"/>
                </a:lnTo>
                <a:lnTo>
                  <a:pt x="4369650" y="3297099"/>
                </a:lnTo>
                <a:lnTo>
                  <a:pt x="0" y="3297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44643">
            <a:off x="1357542" y="1186170"/>
            <a:ext cx="2783651" cy="5279339"/>
          </a:xfrm>
          <a:custGeom>
            <a:avLst/>
            <a:gdLst/>
            <a:ahLst/>
            <a:cxnLst/>
            <a:rect r="r" b="b" t="t" l="l"/>
            <a:pathLst>
              <a:path h="5279339" w="2783651">
                <a:moveTo>
                  <a:pt x="0" y="0"/>
                </a:moveTo>
                <a:lnTo>
                  <a:pt x="2783651" y="0"/>
                </a:lnTo>
                <a:lnTo>
                  <a:pt x="2783651" y="5279339"/>
                </a:lnTo>
                <a:lnTo>
                  <a:pt x="0" y="5279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49473" y="1539412"/>
            <a:ext cx="8389053" cy="1234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4"/>
              </a:lnSpc>
              <a:spcBef>
                <a:spcPct val="0"/>
              </a:spcBef>
            </a:pPr>
            <a:r>
              <a:rPr lang="en-US" sz="8120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PROBLEMÁTICA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27773" y="3268428"/>
            <a:ext cx="6979660" cy="639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3"/>
              </a:lnSpc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• Las apps de fitness más usadas (Fitia, Fatsecret, Myfittnes o Symmetry) son extranjeras, en inglés o con bases de datos de alimentos no adaptadas a Chile.</a:t>
            </a:r>
          </a:p>
          <a:p>
            <a:pPr algn="ctr">
              <a:lnSpc>
                <a:spcPts val="3613"/>
              </a:lnSpc>
            </a:pPr>
          </a:p>
          <a:p>
            <a:pPr algn="ctr">
              <a:lnSpc>
                <a:spcPts val="3613"/>
              </a:lnSpc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• </a:t>
            </a: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No existen apps 100% nacionales que integren calorías + ejercicio + pasos + hidratación en un solo lugar.</a:t>
            </a:r>
          </a:p>
          <a:p>
            <a:pPr algn="ctr">
              <a:lnSpc>
                <a:spcPts val="3613"/>
              </a:lnSpc>
            </a:pPr>
          </a:p>
          <a:p>
            <a:pPr algn="ctr">
              <a:lnSpc>
                <a:spcPts val="3613"/>
              </a:lnSpc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• </a:t>
            </a: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Los usuarios terminan usando 3 o 4 apps distintas para cubrir sus necesidades.</a:t>
            </a:r>
          </a:p>
          <a:p>
            <a:pPr algn="ctr">
              <a:lnSpc>
                <a:spcPts val="3613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795174">
            <a:off x="2600303" y="-5177592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795174">
            <a:off x="-4612695" y="8060633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2" y="0"/>
                </a:lnTo>
                <a:lnTo>
                  <a:pt x="19558042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1353605">
            <a:off x="12423108" y="9714259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289282">
            <a:off x="3528449" y="-734577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8580" y="296964"/>
            <a:ext cx="3601731" cy="885426"/>
          </a:xfrm>
          <a:custGeom>
            <a:avLst/>
            <a:gdLst/>
            <a:ahLst/>
            <a:cxnLst/>
            <a:rect r="r" b="b" t="t" l="l"/>
            <a:pathLst>
              <a:path h="885426" w="3601731">
                <a:moveTo>
                  <a:pt x="0" y="0"/>
                </a:moveTo>
                <a:lnTo>
                  <a:pt x="3601732" y="0"/>
                </a:lnTo>
                <a:lnTo>
                  <a:pt x="3601732" y="885426"/>
                </a:lnTo>
                <a:lnTo>
                  <a:pt x="0" y="8854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28744" y="352045"/>
            <a:ext cx="8030258" cy="2372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28"/>
              </a:lnSpc>
              <a:spcBef>
                <a:spcPct val="0"/>
              </a:spcBef>
            </a:pPr>
            <a:r>
              <a:rPr lang="en-US" sz="7773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OBJETIVOS ESPECÍFICOS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795174">
            <a:off x="2600303" y="-5177592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795174">
            <a:off x="-4612695" y="8060633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2" y="0"/>
                </a:lnTo>
                <a:lnTo>
                  <a:pt x="19558042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1353605">
            <a:off x="16618401" y="3590127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53605">
            <a:off x="-2913540" y="5499602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890433" y="586167"/>
            <a:ext cx="1457428" cy="3180895"/>
          </a:xfrm>
          <a:custGeom>
            <a:avLst/>
            <a:gdLst/>
            <a:ahLst/>
            <a:cxnLst/>
            <a:rect r="r" b="b" t="t" l="l"/>
            <a:pathLst>
              <a:path h="3180895" w="1457428">
                <a:moveTo>
                  <a:pt x="0" y="0"/>
                </a:moveTo>
                <a:lnTo>
                  <a:pt x="1457428" y="0"/>
                </a:lnTo>
                <a:lnTo>
                  <a:pt x="1457428" y="3180894"/>
                </a:lnTo>
                <a:lnTo>
                  <a:pt x="0" y="31808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10909">
            <a:off x="14207926" y="-43095"/>
            <a:ext cx="3519779" cy="3078207"/>
          </a:xfrm>
          <a:custGeom>
            <a:avLst/>
            <a:gdLst/>
            <a:ahLst/>
            <a:cxnLst/>
            <a:rect r="r" b="b" t="t" l="l"/>
            <a:pathLst>
              <a:path h="3078207" w="3519779">
                <a:moveTo>
                  <a:pt x="0" y="0"/>
                </a:moveTo>
                <a:lnTo>
                  <a:pt x="3519779" y="0"/>
                </a:lnTo>
                <a:lnTo>
                  <a:pt x="3519779" y="3078207"/>
                </a:lnTo>
                <a:lnTo>
                  <a:pt x="0" y="30782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9491" y="452924"/>
            <a:ext cx="3146727" cy="773570"/>
          </a:xfrm>
          <a:custGeom>
            <a:avLst/>
            <a:gdLst/>
            <a:ahLst/>
            <a:cxnLst/>
            <a:rect r="r" b="b" t="t" l="l"/>
            <a:pathLst>
              <a:path h="773570" w="3146727">
                <a:moveTo>
                  <a:pt x="0" y="0"/>
                </a:moveTo>
                <a:lnTo>
                  <a:pt x="3146727" y="0"/>
                </a:lnTo>
                <a:lnTo>
                  <a:pt x="3146727" y="773570"/>
                </a:lnTo>
                <a:lnTo>
                  <a:pt x="0" y="773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843693" y="2963704"/>
            <a:ext cx="7430617" cy="684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3"/>
              </a:lnSpc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•Implementar un contador de calorías con base de datos de alimentos chilenos.</a:t>
            </a:r>
          </a:p>
          <a:p>
            <a:pPr algn="ctr">
              <a:lnSpc>
                <a:spcPts val="3613"/>
              </a:lnSpc>
            </a:pPr>
          </a:p>
          <a:p>
            <a:pPr algn="ctr">
              <a:lnSpc>
                <a:spcPts val="3613"/>
              </a:lnSpc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•</a:t>
            </a: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Crear rutinas de ejercicio personalizadas (gym, pilates, otros).</a:t>
            </a:r>
          </a:p>
          <a:p>
            <a:pPr algn="ctr">
              <a:lnSpc>
                <a:spcPts val="3613"/>
              </a:lnSpc>
            </a:pPr>
          </a:p>
          <a:p>
            <a:pPr algn="ctr">
              <a:lnSpc>
                <a:spcPts val="3613"/>
              </a:lnSpc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•</a:t>
            </a: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Incorporar contador de pasos con cálculo de calorías gastadas.</a:t>
            </a:r>
          </a:p>
          <a:p>
            <a:pPr algn="ctr">
              <a:lnSpc>
                <a:spcPts val="3613"/>
              </a:lnSpc>
            </a:pPr>
          </a:p>
          <a:p>
            <a:pPr algn="ctr">
              <a:lnSpc>
                <a:spcPts val="3613"/>
              </a:lnSpc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•</a:t>
            </a: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Registrar consumo diario de agua con recordatorios.</a:t>
            </a:r>
          </a:p>
          <a:p>
            <a:pPr algn="ctr">
              <a:lnSpc>
                <a:spcPts val="3613"/>
              </a:lnSpc>
            </a:pPr>
          </a:p>
          <a:p>
            <a:pPr algn="ctr">
              <a:lnSpc>
                <a:spcPts val="3613"/>
              </a:lnSpc>
              <a:spcBef>
                <a:spcPct val="0"/>
              </a:spcBef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•</a:t>
            </a: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Generar reportes/estadísticas de progreso del usuario.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96218" y="3117209"/>
            <a:ext cx="4022520" cy="614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sz="2918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Desarrollar una aplicación móvil chilena que permita a los usuarios monitorear su alimentación, actividad física, pasos diarios e hidratación de forma simple e integrada.fomentar hábitos saludables y combatir el sedentarismo en la población chilena.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49473" y="1213355"/>
            <a:ext cx="8389053" cy="246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4"/>
              </a:lnSpc>
              <a:spcBef>
                <a:spcPct val="0"/>
              </a:spcBef>
            </a:pPr>
            <a:r>
              <a:rPr lang="en-US" sz="8120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PÚBLICO OBJETIVO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795174">
            <a:off x="2600303" y="-5177592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795174">
            <a:off x="-4612695" y="8060633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2" y="0"/>
                </a:lnTo>
                <a:lnTo>
                  <a:pt x="19558042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1353605">
            <a:off x="12423108" y="9714259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89282">
            <a:off x="3528449" y="-734577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18120">
            <a:off x="1085960" y="1534103"/>
            <a:ext cx="2768138" cy="4114800"/>
          </a:xfrm>
          <a:custGeom>
            <a:avLst/>
            <a:gdLst/>
            <a:ahLst/>
            <a:cxnLst/>
            <a:rect r="r" b="b" t="t" l="l"/>
            <a:pathLst>
              <a:path h="4114800" w="2768138">
                <a:moveTo>
                  <a:pt x="0" y="0"/>
                </a:moveTo>
                <a:lnTo>
                  <a:pt x="2768138" y="0"/>
                </a:lnTo>
                <a:lnTo>
                  <a:pt x="2768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23865">
            <a:off x="13729406" y="5106750"/>
            <a:ext cx="3586780" cy="3032459"/>
          </a:xfrm>
          <a:custGeom>
            <a:avLst/>
            <a:gdLst/>
            <a:ahLst/>
            <a:cxnLst/>
            <a:rect r="r" b="b" t="t" l="l"/>
            <a:pathLst>
              <a:path h="3032459" w="3586780">
                <a:moveTo>
                  <a:pt x="0" y="0"/>
                </a:moveTo>
                <a:lnTo>
                  <a:pt x="3586779" y="0"/>
                </a:lnTo>
                <a:lnTo>
                  <a:pt x="3586779" y="3032459"/>
                </a:lnTo>
                <a:lnTo>
                  <a:pt x="0" y="30324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9201" y="385558"/>
            <a:ext cx="3367307" cy="827796"/>
          </a:xfrm>
          <a:custGeom>
            <a:avLst/>
            <a:gdLst/>
            <a:ahLst/>
            <a:cxnLst/>
            <a:rect r="r" b="b" t="t" l="l"/>
            <a:pathLst>
              <a:path h="827796" w="3367307">
                <a:moveTo>
                  <a:pt x="0" y="0"/>
                </a:moveTo>
                <a:lnTo>
                  <a:pt x="3367307" y="0"/>
                </a:lnTo>
                <a:lnTo>
                  <a:pt x="3367307" y="827797"/>
                </a:lnTo>
                <a:lnTo>
                  <a:pt x="0" y="8277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654170" y="4267200"/>
            <a:ext cx="6979660" cy="456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3"/>
              </a:lnSpc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•Hombres y mujeres de 18 a 45 años.</a:t>
            </a:r>
          </a:p>
          <a:p>
            <a:pPr algn="ctr">
              <a:lnSpc>
                <a:spcPts val="3613"/>
              </a:lnSpc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Personas que asisten a gimnasios, clases de pilates u otras actividades físicas.</a:t>
            </a:r>
          </a:p>
          <a:p>
            <a:pPr algn="ctr">
              <a:lnSpc>
                <a:spcPts val="3613"/>
              </a:lnSpc>
            </a:pPr>
          </a:p>
          <a:p>
            <a:pPr algn="ctr">
              <a:lnSpc>
                <a:spcPts val="3613"/>
              </a:lnSpc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•</a:t>
            </a: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Usuarios interesados en mejorar hábitos alimenticios y de hidratación.</a:t>
            </a:r>
          </a:p>
          <a:p>
            <a:pPr algn="ctr">
              <a:lnSpc>
                <a:spcPts val="3613"/>
              </a:lnSpc>
            </a:pPr>
          </a:p>
          <a:p>
            <a:pPr algn="ctr">
              <a:lnSpc>
                <a:spcPts val="3613"/>
              </a:lnSpc>
              <a:spcBef>
                <a:spcPct val="0"/>
              </a:spcBef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•</a:t>
            </a: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Personas que buscan una app en español, simple y adaptada a Chile.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795174">
            <a:off x="-7475464" y="8170739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2" y="0"/>
                </a:lnTo>
                <a:lnTo>
                  <a:pt x="19558042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7249" y="3503872"/>
            <a:ext cx="11128021" cy="503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169" indent="-325085" lvl="1">
              <a:lnSpc>
                <a:spcPts val="3613"/>
              </a:lnSpc>
              <a:buAutoNum type="arabicPeriod" startAt="1"/>
            </a:pPr>
            <a:r>
              <a:rPr lang="en-US" sz="3011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P</a:t>
            </a:r>
            <a:r>
              <a:rPr lang="en-US" sz="3011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erfi</a:t>
            </a:r>
            <a:r>
              <a:rPr lang="en-US" sz="3011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l del usuario</a:t>
            </a:r>
          </a:p>
          <a:p>
            <a:pPr algn="l" marL="1300339" indent="-433446" lvl="2">
              <a:lnSpc>
                <a:spcPts val="3613"/>
              </a:lnSpc>
              <a:buAutoNum type="alphaLcPeriod" startAt="1"/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Registro e inicio de sesión</a:t>
            </a:r>
          </a:p>
          <a:p>
            <a:pPr algn="l" marL="1300339" indent="-433446" lvl="2">
              <a:lnSpc>
                <a:spcPts val="3613"/>
              </a:lnSpc>
              <a:buAutoNum type="alphaLcPeriod" startAt="1"/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Datos básicos de usuario</a:t>
            </a:r>
          </a:p>
          <a:p>
            <a:pPr algn="l" marL="650169" indent="-325085" lvl="1">
              <a:lnSpc>
                <a:spcPts val="3613"/>
              </a:lnSpc>
              <a:buAutoNum type="arabicPeriod" startAt="1"/>
            </a:pPr>
            <a:r>
              <a:rPr lang="en-US" sz="3011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Módulo de Entrenamiento</a:t>
            </a:r>
          </a:p>
          <a:p>
            <a:pPr algn="l" marL="1300339" indent="-433446" lvl="2">
              <a:lnSpc>
                <a:spcPts val="3613"/>
              </a:lnSpc>
              <a:buAutoNum type="alphaLcPeriod" startAt="1"/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Selección de rutinas de entrenamiento</a:t>
            </a:r>
          </a:p>
          <a:p>
            <a:pPr algn="l" marL="1300339" indent="-433446" lvl="2">
              <a:lnSpc>
                <a:spcPts val="3613"/>
              </a:lnSpc>
              <a:buAutoNum type="alphaLcPeriod" startAt="1"/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Registro de entrenamiento</a:t>
            </a:r>
          </a:p>
          <a:p>
            <a:pPr algn="l" marL="650169" indent="-325085" lvl="1">
              <a:lnSpc>
                <a:spcPts val="3613"/>
              </a:lnSpc>
              <a:buAutoNum type="arabicPeriod" startAt="1"/>
            </a:pPr>
            <a:r>
              <a:rPr lang="en-US" sz="3011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Módulo de Nutrición</a:t>
            </a:r>
          </a:p>
          <a:p>
            <a:pPr algn="l" marL="1300339" indent="-433446" lvl="2">
              <a:lnSpc>
                <a:spcPts val="3613"/>
              </a:lnSpc>
              <a:buAutoNum type="alphaLcPeriod" startAt="1"/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Cálculo automático de calorías y macronutrientes</a:t>
            </a:r>
          </a:p>
          <a:p>
            <a:pPr algn="l" marL="1300339" indent="-433446" lvl="2">
              <a:lnSpc>
                <a:spcPts val="3613"/>
              </a:lnSpc>
              <a:buAutoNum type="alphaLcPeriod" startAt="1"/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Conteo de pasos y agua</a:t>
            </a:r>
          </a:p>
          <a:p>
            <a:pPr algn="l" marL="650169" indent="-325085" lvl="1">
              <a:lnSpc>
                <a:spcPts val="3613"/>
              </a:lnSpc>
              <a:buAutoNum type="arabicPeriod" startAt="1"/>
            </a:pPr>
            <a:r>
              <a:rPr lang="en-US" sz="3011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Progreso unificado</a:t>
            </a:r>
          </a:p>
          <a:p>
            <a:pPr algn="l" marL="1300339" indent="-433446" lvl="2">
              <a:lnSpc>
                <a:spcPts val="3613"/>
              </a:lnSpc>
              <a:buAutoNum type="alphaLcPeriod" startAt="1"/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Seguimiento de peso corporal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366841">
            <a:off x="3361137" y="-4875566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36688">
            <a:off x="-2965209" y="8961781"/>
            <a:ext cx="19558042" cy="7010187"/>
          </a:xfrm>
          <a:custGeom>
            <a:avLst/>
            <a:gdLst/>
            <a:ahLst/>
            <a:cxnLst/>
            <a:rect r="r" b="b" t="t" l="l"/>
            <a:pathLst>
              <a:path h="7010187" w="19558042">
                <a:moveTo>
                  <a:pt x="0" y="0"/>
                </a:moveTo>
                <a:lnTo>
                  <a:pt x="19558042" y="0"/>
                </a:lnTo>
                <a:lnTo>
                  <a:pt x="19558042" y="7010187"/>
                </a:lnTo>
                <a:lnTo>
                  <a:pt x="0" y="7010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-1482" t="-7365" r="-1482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4856818">
            <a:off x="16084227" y="7816058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53605">
            <a:off x="-1002194" y="9380910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77323" y="2305598"/>
            <a:ext cx="4091427" cy="6429385"/>
          </a:xfrm>
          <a:custGeom>
            <a:avLst/>
            <a:gdLst/>
            <a:ahLst/>
            <a:cxnLst/>
            <a:rect r="r" b="b" t="t" l="l"/>
            <a:pathLst>
              <a:path h="6429385" w="4091427">
                <a:moveTo>
                  <a:pt x="0" y="0"/>
                </a:moveTo>
                <a:lnTo>
                  <a:pt x="4091427" y="0"/>
                </a:lnTo>
                <a:lnTo>
                  <a:pt x="4091427" y="6429386"/>
                </a:lnTo>
                <a:lnTo>
                  <a:pt x="0" y="64293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2078" y="219501"/>
            <a:ext cx="3291658" cy="809199"/>
          </a:xfrm>
          <a:custGeom>
            <a:avLst/>
            <a:gdLst/>
            <a:ahLst/>
            <a:cxnLst/>
            <a:rect r="r" b="b" t="t" l="l"/>
            <a:pathLst>
              <a:path h="809199" w="3291658">
                <a:moveTo>
                  <a:pt x="0" y="0"/>
                </a:moveTo>
                <a:lnTo>
                  <a:pt x="3291658" y="0"/>
                </a:lnTo>
                <a:lnTo>
                  <a:pt x="3291658" y="809199"/>
                </a:lnTo>
                <a:lnTo>
                  <a:pt x="0" y="809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97907" y="986685"/>
            <a:ext cx="10377363" cy="246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4"/>
              </a:lnSpc>
              <a:spcBef>
                <a:spcPct val="0"/>
              </a:spcBef>
            </a:pPr>
            <a:r>
              <a:rPr lang="en-US" sz="8120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FUNCIONALIDADES PRINCIPALES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8893" y="1216969"/>
            <a:ext cx="8030258" cy="2372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28"/>
              </a:lnSpc>
              <a:spcBef>
                <a:spcPct val="0"/>
              </a:spcBef>
            </a:pPr>
            <a:r>
              <a:rPr lang="en-US" sz="7773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ANÁLISIS DE LA COMPETENCIA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335731">
            <a:off x="2600303" y="-5177592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39743">
            <a:off x="-4179153" y="8173731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2" y="0"/>
                </a:lnTo>
                <a:lnTo>
                  <a:pt x="19558042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1353605">
            <a:off x="14808833" y="9056529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50" y="0"/>
                </a:lnTo>
                <a:lnTo>
                  <a:pt x="4598650" y="1145481"/>
                </a:lnTo>
                <a:lnTo>
                  <a:pt x="0" y="1145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353605">
            <a:off x="-2487525" y="2624518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1145482"/>
                </a:moveTo>
                <a:lnTo>
                  <a:pt x="4598649" y="1145482"/>
                </a:lnTo>
                <a:lnTo>
                  <a:pt x="4598649" y="0"/>
                </a:lnTo>
                <a:lnTo>
                  <a:pt x="0" y="0"/>
                </a:lnTo>
                <a:lnTo>
                  <a:pt x="0" y="114548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49011">
            <a:off x="13636040" y="-271195"/>
            <a:ext cx="4705073" cy="4114800"/>
          </a:xfrm>
          <a:custGeom>
            <a:avLst/>
            <a:gdLst/>
            <a:ahLst/>
            <a:cxnLst/>
            <a:rect r="r" b="b" t="t" l="l"/>
            <a:pathLst>
              <a:path h="4114800" w="4705073">
                <a:moveTo>
                  <a:pt x="0" y="0"/>
                </a:moveTo>
                <a:lnTo>
                  <a:pt x="4705073" y="0"/>
                </a:lnTo>
                <a:lnTo>
                  <a:pt x="47050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10454">
            <a:off x="16172729" y="7747512"/>
            <a:ext cx="1870858" cy="2251579"/>
          </a:xfrm>
          <a:custGeom>
            <a:avLst/>
            <a:gdLst/>
            <a:ahLst/>
            <a:cxnLst/>
            <a:rect r="r" b="b" t="t" l="l"/>
            <a:pathLst>
              <a:path h="2251579" w="1870858">
                <a:moveTo>
                  <a:pt x="0" y="0"/>
                </a:moveTo>
                <a:lnTo>
                  <a:pt x="1870858" y="0"/>
                </a:lnTo>
                <a:lnTo>
                  <a:pt x="1870858" y="2251579"/>
                </a:lnTo>
                <a:lnTo>
                  <a:pt x="0" y="22515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724111" y="3933825"/>
          <a:ext cx="11475869" cy="5324475"/>
        </p:xfrm>
        <a:graphic>
          <a:graphicData uri="http://schemas.openxmlformats.org/drawingml/2006/table">
            <a:tbl>
              <a:tblPr/>
              <a:tblGrid>
                <a:gridCol w="1323671"/>
                <a:gridCol w="1939997"/>
                <a:gridCol w="2103118"/>
                <a:gridCol w="3062037"/>
                <a:gridCol w="3047046"/>
              </a:tblGrid>
              <a:tr h="10648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Logo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4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App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4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Enfoque Principal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4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Fortaleza Principal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4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Debilidad principal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431"/>
                    </a:solidFill>
                  </a:tcPr>
                </a:tc>
              </a:tr>
              <a:tr h="10648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Fitia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Nutrición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Seguimiento de macros y planes de comida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No tiene módulo de entrenamiento serio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48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MyFitnessPal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Nutrición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Base de datos enorme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Interfaz pesada y monetización agresiva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48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Symmetry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Entrenamiento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Rutinas personalizadas y progresión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No tiene nutrición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48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Gooogle Fit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eguimiento saludable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Seguimiento de pasos y actividades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No tiene nutricion o entrenamiento serio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0" id="10"/>
          <p:cNvSpPr/>
          <p:nvPr/>
        </p:nvSpPr>
        <p:spPr>
          <a:xfrm flipH="false" flipV="false" rot="0">
            <a:off x="977537" y="8233497"/>
            <a:ext cx="859153" cy="859153"/>
          </a:xfrm>
          <a:custGeom>
            <a:avLst/>
            <a:gdLst/>
            <a:ahLst/>
            <a:cxnLst/>
            <a:rect r="r" b="b" t="t" l="l"/>
            <a:pathLst>
              <a:path h="859153" w="859153">
                <a:moveTo>
                  <a:pt x="0" y="0"/>
                </a:moveTo>
                <a:lnTo>
                  <a:pt x="859152" y="0"/>
                </a:lnTo>
                <a:lnTo>
                  <a:pt x="859152" y="859153"/>
                </a:lnTo>
                <a:lnTo>
                  <a:pt x="0" y="8591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4601" y="5065666"/>
            <a:ext cx="872088" cy="872088"/>
          </a:xfrm>
          <a:custGeom>
            <a:avLst/>
            <a:gdLst/>
            <a:ahLst/>
            <a:cxnLst/>
            <a:rect r="r" b="b" t="t" l="l"/>
            <a:pathLst>
              <a:path h="872088" w="872088">
                <a:moveTo>
                  <a:pt x="0" y="0"/>
                </a:moveTo>
                <a:lnTo>
                  <a:pt x="872088" y="0"/>
                </a:lnTo>
                <a:lnTo>
                  <a:pt x="872088" y="872088"/>
                </a:lnTo>
                <a:lnTo>
                  <a:pt x="0" y="8720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92305" y="7220213"/>
            <a:ext cx="829616" cy="812510"/>
          </a:xfrm>
          <a:custGeom>
            <a:avLst/>
            <a:gdLst/>
            <a:ahLst/>
            <a:cxnLst/>
            <a:rect r="r" b="b" t="t" l="l"/>
            <a:pathLst>
              <a:path h="812510" w="829616">
                <a:moveTo>
                  <a:pt x="0" y="0"/>
                </a:moveTo>
                <a:lnTo>
                  <a:pt x="829616" y="0"/>
                </a:lnTo>
                <a:lnTo>
                  <a:pt x="829616" y="812511"/>
                </a:lnTo>
                <a:lnTo>
                  <a:pt x="0" y="8125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2664" y="6165800"/>
            <a:ext cx="1095962" cy="854388"/>
          </a:xfrm>
          <a:custGeom>
            <a:avLst/>
            <a:gdLst/>
            <a:ahLst/>
            <a:cxnLst/>
            <a:rect r="r" b="b" t="t" l="l"/>
            <a:pathLst>
              <a:path h="854388" w="1095962">
                <a:moveTo>
                  <a:pt x="0" y="0"/>
                </a:moveTo>
                <a:lnTo>
                  <a:pt x="1095962" y="0"/>
                </a:lnTo>
                <a:lnTo>
                  <a:pt x="1095962" y="854388"/>
                </a:lnTo>
                <a:lnTo>
                  <a:pt x="0" y="8543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319773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9933" y="377733"/>
            <a:ext cx="3323302" cy="816978"/>
          </a:xfrm>
          <a:custGeom>
            <a:avLst/>
            <a:gdLst/>
            <a:ahLst/>
            <a:cxnLst/>
            <a:rect r="r" b="b" t="t" l="l"/>
            <a:pathLst>
              <a:path h="816978" w="3323302">
                <a:moveTo>
                  <a:pt x="0" y="0"/>
                </a:moveTo>
                <a:lnTo>
                  <a:pt x="3323302" y="0"/>
                </a:lnTo>
                <a:lnTo>
                  <a:pt x="3323302" y="816978"/>
                </a:lnTo>
                <a:lnTo>
                  <a:pt x="0" y="8169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953419" y="3924300"/>
            <a:ext cx="5947111" cy="88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8"/>
              </a:lnSpc>
              <a:spcBef>
                <a:spcPct val="0"/>
              </a:spcBef>
            </a:pPr>
            <a:r>
              <a:rPr lang="en-US" sz="5756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BALANCORE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50135" y="4808736"/>
            <a:ext cx="5050396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597" indent="-276799" lvl="1">
              <a:lnSpc>
                <a:spcPts val="3076"/>
              </a:lnSpc>
              <a:buFont typeface="Arial"/>
              <a:buChar char="•"/>
            </a:pPr>
            <a:r>
              <a:rPr lang="en-US" sz="2564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Una sola app que une entrenamiento + nutrición</a:t>
            </a:r>
          </a:p>
          <a:p>
            <a:pPr algn="l">
              <a:lnSpc>
                <a:spcPts val="3076"/>
              </a:lnSpc>
            </a:pPr>
          </a:p>
          <a:p>
            <a:pPr algn="l" marL="553597" indent="-276799" lvl="1">
              <a:lnSpc>
                <a:spcPts val="3076"/>
              </a:lnSpc>
              <a:buFont typeface="Arial"/>
              <a:buChar char="•"/>
            </a:pPr>
            <a:r>
              <a:rPr lang="en-US" sz="2564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Experiencia limpia y poco agresiva con pagos/anuncios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66841">
            <a:off x="3361137" y="-4875566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236688">
            <a:off x="-2965209" y="8961781"/>
            <a:ext cx="19558042" cy="7010187"/>
          </a:xfrm>
          <a:custGeom>
            <a:avLst/>
            <a:gdLst/>
            <a:ahLst/>
            <a:cxnLst/>
            <a:rect r="r" b="b" t="t" l="l"/>
            <a:pathLst>
              <a:path h="7010187" w="19558042">
                <a:moveTo>
                  <a:pt x="0" y="0"/>
                </a:moveTo>
                <a:lnTo>
                  <a:pt x="19558042" y="0"/>
                </a:lnTo>
                <a:lnTo>
                  <a:pt x="19558042" y="7010187"/>
                </a:lnTo>
                <a:lnTo>
                  <a:pt x="0" y="7010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-1482" t="-7365" r="-1482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4856818">
            <a:off x="16084227" y="7816058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53605">
            <a:off x="-1002194" y="9380910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2078" y="219501"/>
            <a:ext cx="3291658" cy="809199"/>
          </a:xfrm>
          <a:custGeom>
            <a:avLst/>
            <a:gdLst/>
            <a:ahLst/>
            <a:cxnLst/>
            <a:rect r="r" b="b" t="t" l="l"/>
            <a:pathLst>
              <a:path h="809199" w="3291658">
                <a:moveTo>
                  <a:pt x="0" y="0"/>
                </a:moveTo>
                <a:lnTo>
                  <a:pt x="3291658" y="0"/>
                </a:lnTo>
                <a:lnTo>
                  <a:pt x="3291658" y="809199"/>
                </a:lnTo>
                <a:lnTo>
                  <a:pt x="0" y="809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22578" y="2599506"/>
            <a:ext cx="11128021" cy="595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169" indent="-325085" lvl="1">
              <a:lnSpc>
                <a:spcPts val="3613"/>
              </a:lnSpc>
              <a:buAutoNum type="arabicPeriod" startAt="1"/>
            </a:pPr>
            <a:r>
              <a:rPr lang="en-US" sz="3011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Alcanc</a:t>
            </a:r>
            <a:r>
              <a:rPr lang="en-US" sz="3011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e</a:t>
            </a:r>
            <a:r>
              <a:rPr lang="en-US" sz="3011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 demasiado ambicioso.</a:t>
            </a:r>
          </a:p>
          <a:p>
            <a:pPr algn="l" marL="1300339" indent="-433446" lvl="2">
              <a:lnSpc>
                <a:spcPts val="3613"/>
              </a:lnSpc>
              <a:buAutoNum type="alphaLcPeriod" startAt="1"/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Querer agregar demasiadas funcionalidades y no alcanzar a terminar el producto final a tiempo.</a:t>
            </a:r>
          </a:p>
          <a:p>
            <a:pPr algn="l" marL="1300339" indent="-433446" lvl="2">
              <a:lnSpc>
                <a:spcPts val="3613"/>
              </a:lnSpc>
              <a:buAutoNum type="alphaLcPeriod" startAt="1"/>
            </a:pPr>
            <a:r>
              <a:rPr lang="en-US" sz="3011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Mitigación</a:t>
            </a: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: Definir claramente el alcance mínimo desde el inicio (Priorización de los módulos principales).</a:t>
            </a:r>
          </a:p>
          <a:p>
            <a:pPr algn="l" marL="650169" indent="-325085" lvl="1">
              <a:lnSpc>
                <a:spcPts val="3613"/>
              </a:lnSpc>
              <a:buAutoNum type="arabicPeriod" startAt="1"/>
            </a:pPr>
            <a:r>
              <a:rPr lang="en-US" sz="3011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Baja participaci</a:t>
            </a:r>
            <a:r>
              <a:rPr lang="en-US" sz="3011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ón o desbalance de carga en el equipo.</a:t>
            </a:r>
          </a:p>
          <a:p>
            <a:pPr algn="l" marL="1300339" indent="-433446" lvl="2">
              <a:lnSpc>
                <a:spcPts val="3613"/>
              </a:lnSpc>
              <a:buAutoNum type="alphaLcPeriod" startAt="1"/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Uno o más integrantes no avanzan al ritmo esperado, generando retrasos y sobrecarga en el resto.</a:t>
            </a:r>
          </a:p>
          <a:p>
            <a:pPr algn="l" marL="1300339" indent="-433446" lvl="2">
              <a:lnSpc>
                <a:spcPts val="3613"/>
              </a:lnSpc>
              <a:buAutoNum type="alphaLcPeriod" startAt="1"/>
            </a:pPr>
            <a:r>
              <a:rPr lang="en-US" sz="3011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Mitigación</a:t>
            </a: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: Hacer reuniones cortas de seguimiento   1-2 veces por semana. Redistribuir tareas si alguien se atrasa.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502781" y="2609031"/>
            <a:ext cx="3953369" cy="5688301"/>
          </a:xfrm>
          <a:custGeom>
            <a:avLst/>
            <a:gdLst/>
            <a:ahLst/>
            <a:cxnLst/>
            <a:rect r="r" b="b" t="t" l="l"/>
            <a:pathLst>
              <a:path h="5688301" w="3953369">
                <a:moveTo>
                  <a:pt x="0" y="0"/>
                </a:moveTo>
                <a:lnTo>
                  <a:pt x="3953369" y="0"/>
                </a:lnTo>
                <a:lnTo>
                  <a:pt x="3953369" y="5688301"/>
                </a:lnTo>
                <a:lnTo>
                  <a:pt x="0" y="56883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97907" y="986685"/>
            <a:ext cx="10377363" cy="1234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4"/>
              </a:lnSpc>
              <a:spcBef>
                <a:spcPct val="0"/>
              </a:spcBef>
            </a:pPr>
            <a:r>
              <a:rPr lang="en-US" sz="8120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RIESGOS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5174">
            <a:off x="2600303" y="-5177592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795174">
            <a:off x="-4612695" y="8060633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2" y="0"/>
                </a:lnTo>
                <a:lnTo>
                  <a:pt x="19558042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353605">
            <a:off x="16401241" y="4202097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53605">
            <a:off x="-2764297" y="1867014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1"/>
                </a:lnTo>
                <a:lnTo>
                  <a:pt x="0" y="1145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4696" y="283356"/>
            <a:ext cx="3516318" cy="864428"/>
          </a:xfrm>
          <a:custGeom>
            <a:avLst/>
            <a:gdLst/>
            <a:ahLst/>
            <a:cxnLst/>
            <a:rect r="r" b="b" t="t" l="l"/>
            <a:pathLst>
              <a:path h="864428" w="3516318">
                <a:moveTo>
                  <a:pt x="0" y="0"/>
                </a:moveTo>
                <a:lnTo>
                  <a:pt x="3516318" y="0"/>
                </a:lnTo>
                <a:lnTo>
                  <a:pt x="3516318" y="864428"/>
                </a:lnTo>
                <a:lnTo>
                  <a:pt x="0" y="864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3265" y="4267200"/>
            <a:ext cx="11128021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169" indent="-325085" lvl="1">
              <a:lnSpc>
                <a:spcPts val="3613"/>
              </a:lnSpc>
              <a:buAutoNum type="arabicPeriod" startAt="1"/>
            </a:pPr>
            <a:r>
              <a:rPr lang="en-US" sz="3011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Firebase Authentication: </a:t>
            </a: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Autenticacion del usuario</a:t>
            </a:r>
          </a:p>
          <a:p>
            <a:pPr algn="l" marL="650169" indent="-325085" lvl="1">
              <a:lnSpc>
                <a:spcPts val="3613"/>
              </a:lnSpc>
              <a:buAutoNum type="arabicPeriod" startAt="1"/>
            </a:pPr>
            <a:r>
              <a:rPr lang="en-US" sz="3011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Cloud Firestore: </a:t>
            </a: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Proteccion de los datos del usuario</a:t>
            </a:r>
          </a:p>
          <a:p>
            <a:pPr algn="l" marL="650169" indent="-325085" lvl="1">
              <a:lnSpc>
                <a:spcPts val="3613"/>
              </a:lnSpc>
              <a:buAutoNum type="arabicPeriod" startAt="1"/>
            </a:pPr>
            <a:r>
              <a:rPr lang="en-US" sz="3011">
                <a:solidFill>
                  <a:srgbClr val="5D5C5C"/>
                </a:solidFill>
                <a:latin typeface="Hero Bold"/>
                <a:ea typeface="Hero Bold"/>
                <a:cs typeface="Hero Bold"/>
                <a:sym typeface="Hero Bold"/>
              </a:rPr>
              <a:t>Control de acceso</a:t>
            </a: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: Para evitar que otros usuarios vean datos privados  </a:t>
            </a:r>
          </a:p>
          <a:p>
            <a:pPr algn="l" marL="650169" indent="-325085" lvl="1">
              <a:lnSpc>
                <a:spcPts val="3613"/>
              </a:lnSpc>
              <a:buAutoNum type="arabicPeriod" startAt="1"/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Respaldos y monitoreo para reducir el impacto de posibles pérdidas de información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781392" y="3227665"/>
            <a:ext cx="4066953" cy="4784650"/>
          </a:xfrm>
          <a:custGeom>
            <a:avLst/>
            <a:gdLst/>
            <a:ahLst/>
            <a:cxnLst/>
            <a:rect r="r" b="b" t="t" l="l"/>
            <a:pathLst>
              <a:path h="4784650" w="4066953">
                <a:moveTo>
                  <a:pt x="0" y="0"/>
                </a:moveTo>
                <a:lnTo>
                  <a:pt x="4066952" y="0"/>
                </a:lnTo>
                <a:lnTo>
                  <a:pt x="4066952" y="4784650"/>
                </a:lnTo>
                <a:lnTo>
                  <a:pt x="0" y="47846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22855" y="2220843"/>
            <a:ext cx="8389053" cy="1234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4"/>
              </a:lnSpc>
              <a:spcBef>
                <a:spcPct val="0"/>
              </a:spcBef>
            </a:pPr>
            <a:r>
              <a:rPr lang="en-US" sz="8120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SEGURIDAD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93515">
            <a:off x="13674573" y="9228062"/>
            <a:ext cx="6739020" cy="1678629"/>
          </a:xfrm>
          <a:custGeom>
            <a:avLst/>
            <a:gdLst/>
            <a:ahLst/>
            <a:cxnLst/>
            <a:rect r="r" b="b" t="t" l="l"/>
            <a:pathLst>
              <a:path h="1678629" w="6739020">
                <a:moveTo>
                  <a:pt x="0" y="0"/>
                </a:moveTo>
                <a:lnTo>
                  <a:pt x="6739020" y="0"/>
                </a:lnTo>
                <a:lnTo>
                  <a:pt x="6739020" y="1678629"/>
                </a:lnTo>
                <a:lnTo>
                  <a:pt x="0" y="1678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660343">
            <a:off x="-3631683" y="3195140"/>
            <a:ext cx="7002492" cy="1744257"/>
          </a:xfrm>
          <a:custGeom>
            <a:avLst/>
            <a:gdLst/>
            <a:ahLst/>
            <a:cxnLst/>
            <a:rect r="r" b="b" t="t" l="l"/>
            <a:pathLst>
              <a:path h="1744257" w="7002492">
                <a:moveTo>
                  <a:pt x="0" y="1744257"/>
                </a:moveTo>
                <a:lnTo>
                  <a:pt x="7002492" y="1744257"/>
                </a:lnTo>
                <a:lnTo>
                  <a:pt x="7002492" y="0"/>
                </a:lnTo>
                <a:lnTo>
                  <a:pt x="0" y="0"/>
                </a:lnTo>
                <a:lnTo>
                  <a:pt x="0" y="174425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411458">
            <a:off x="-733322" y="5201277"/>
            <a:ext cx="3524044" cy="3338231"/>
          </a:xfrm>
          <a:custGeom>
            <a:avLst/>
            <a:gdLst/>
            <a:ahLst/>
            <a:cxnLst/>
            <a:rect r="r" b="b" t="t" l="l"/>
            <a:pathLst>
              <a:path h="3338231" w="3524044">
                <a:moveTo>
                  <a:pt x="0" y="0"/>
                </a:moveTo>
                <a:lnTo>
                  <a:pt x="3524044" y="0"/>
                </a:lnTo>
                <a:lnTo>
                  <a:pt x="3524044" y="3338231"/>
                </a:lnTo>
                <a:lnTo>
                  <a:pt x="0" y="3338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14765">
            <a:off x="15082245" y="6305628"/>
            <a:ext cx="4035190" cy="3330866"/>
          </a:xfrm>
          <a:custGeom>
            <a:avLst/>
            <a:gdLst/>
            <a:ahLst/>
            <a:cxnLst/>
            <a:rect r="r" b="b" t="t" l="l"/>
            <a:pathLst>
              <a:path h="3330866" w="4035190">
                <a:moveTo>
                  <a:pt x="0" y="0"/>
                </a:moveTo>
                <a:lnTo>
                  <a:pt x="4035191" y="0"/>
                </a:lnTo>
                <a:lnTo>
                  <a:pt x="4035191" y="3330866"/>
                </a:lnTo>
                <a:lnTo>
                  <a:pt x="0" y="3330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04014" y="464979"/>
            <a:ext cx="5680169" cy="9947442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469203" y="453172"/>
            <a:ext cx="5761070" cy="10089121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701153" y="453172"/>
            <a:ext cx="5761070" cy="10089121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false" flipV="false" rot="208128">
            <a:off x="5600147" y="-4999643"/>
            <a:ext cx="18702194" cy="6989945"/>
          </a:xfrm>
          <a:custGeom>
            <a:avLst/>
            <a:gdLst/>
            <a:ahLst/>
            <a:cxnLst/>
            <a:rect r="r" b="b" t="t" l="l"/>
            <a:pathLst>
              <a:path h="6989945" w="18702194">
                <a:moveTo>
                  <a:pt x="0" y="0"/>
                </a:moveTo>
                <a:lnTo>
                  <a:pt x="18702193" y="0"/>
                </a:lnTo>
                <a:lnTo>
                  <a:pt x="18702193" y="6989945"/>
                </a:lnTo>
                <a:lnTo>
                  <a:pt x="0" y="69899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367189">
            <a:off x="-4355601" y="8481596"/>
            <a:ext cx="18702194" cy="6989945"/>
          </a:xfrm>
          <a:custGeom>
            <a:avLst/>
            <a:gdLst/>
            <a:ahLst/>
            <a:cxnLst/>
            <a:rect r="r" b="b" t="t" l="l"/>
            <a:pathLst>
              <a:path h="6989945" w="18702194">
                <a:moveTo>
                  <a:pt x="0" y="0"/>
                </a:moveTo>
                <a:lnTo>
                  <a:pt x="18702194" y="0"/>
                </a:lnTo>
                <a:lnTo>
                  <a:pt x="18702194" y="6989945"/>
                </a:lnTo>
                <a:lnTo>
                  <a:pt x="0" y="69899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5074748" y="3172370"/>
            <a:ext cx="2620230" cy="2620230"/>
          </a:xfrm>
          <a:custGeom>
            <a:avLst/>
            <a:gdLst/>
            <a:ahLst/>
            <a:cxnLst/>
            <a:rect r="r" b="b" t="t" l="l"/>
            <a:pathLst>
              <a:path h="2620230" w="2620230">
                <a:moveTo>
                  <a:pt x="0" y="0"/>
                </a:moveTo>
                <a:lnTo>
                  <a:pt x="2620230" y="0"/>
                </a:lnTo>
                <a:lnTo>
                  <a:pt x="2620230" y="2620230"/>
                </a:lnTo>
                <a:lnTo>
                  <a:pt x="0" y="262023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8690" y="316937"/>
            <a:ext cx="3043143" cy="748106"/>
          </a:xfrm>
          <a:custGeom>
            <a:avLst/>
            <a:gdLst/>
            <a:ahLst/>
            <a:cxnLst/>
            <a:rect r="r" b="b" t="t" l="l"/>
            <a:pathLst>
              <a:path h="748106" w="3043143">
                <a:moveTo>
                  <a:pt x="0" y="0"/>
                </a:moveTo>
                <a:lnTo>
                  <a:pt x="3043142" y="0"/>
                </a:lnTo>
                <a:lnTo>
                  <a:pt x="3043142" y="748106"/>
                </a:lnTo>
                <a:lnTo>
                  <a:pt x="0" y="7481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86343" y="-9525"/>
            <a:ext cx="14288588" cy="967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2"/>
              </a:lnSpc>
              <a:spcBef>
                <a:spcPct val="0"/>
              </a:spcBef>
            </a:pPr>
            <a:r>
              <a:rPr lang="en-US" sz="6302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MOCKUPS DE LA APLICACIÓN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5174">
            <a:off x="2600303" y="-5177592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795174">
            <a:off x="-3126425" y="7151164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9"/>
                </a:lnTo>
                <a:lnTo>
                  <a:pt x="0" y="7309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353605">
            <a:off x="14032786" y="9068631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1"/>
                </a:lnTo>
                <a:lnTo>
                  <a:pt x="0" y="1145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53605">
            <a:off x="-1270625" y="9288844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50" y="0"/>
                </a:lnTo>
                <a:lnTo>
                  <a:pt x="4598650" y="1145481"/>
                </a:lnTo>
                <a:lnTo>
                  <a:pt x="0" y="1145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027699">
            <a:off x="1560819" y="1212771"/>
            <a:ext cx="1809105" cy="2462890"/>
          </a:xfrm>
          <a:custGeom>
            <a:avLst/>
            <a:gdLst/>
            <a:ahLst/>
            <a:cxnLst/>
            <a:rect r="r" b="b" t="t" l="l"/>
            <a:pathLst>
              <a:path h="2462890" w="1809105">
                <a:moveTo>
                  <a:pt x="0" y="0"/>
                </a:moveTo>
                <a:lnTo>
                  <a:pt x="1809104" y="0"/>
                </a:lnTo>
                <a:lnTo>
                  <a:pt x="1809104" y="2462890"/>
                </a:lnTo>
                <a:lnTo>
                  <a:pt x="0" y="2462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126234">
            <a:off x="14267737" y="1398238"/>
            <a:ext cx="2175001" cy="2091956"/>
          </a:xfrm>
          <a:custGeom>
            <a:avLst/>
            <a:gdLst/>
            <a:ahLst/>
            <a:cxnLst/>
            <a:rect r="r" b="b" t="t" l="l"/>
            <a:pathLst>
              <a:path h="2091956" w="2175001">
                <a:moveTo>
                  <a:pt x="0" y="0"/>
                </a:moveTo>
                <a:lnTo>
                  <a:pt x="2175002" y="0"/>
                </a:lnTo>
                <a:lnTo>
                  <a:pt x="2175002" y="2091955"/>
                </a:lnTo>
                <a:lnTo>
                  <a:pt x="0" y="20919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485" y="224908"/>
            <a:ext cx="3581417" cy="880432"/>
          </a:xfrm>
          <a:custGeom>
            <a:avLst/>
            <a:gdLst/>
            <a:ahLst/>
            <a:cxnLst/>
            <a:rect r="r" b="b" t="t" l="l"/>
            <a:pathLst>
              <a:path h="880432" w="3581417">
                <a:moveTo>
                  <a:pt x="0" y="0"/>
                </a:moveTo>
                <a:lnTo>
                  <a:pt x="3581417" y="0"/>
                </a:lnTo>
                <a:lnTo>
                  <a:pt x="3581417" y="880432"/>
                </a:lnTo>
                <a:lnTo>
                  <a:pt x="0" y="880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89220" y="3285136"/>
            <a:ext cx="8299378" cy="6850510"/>
          </a:xfrm>
          <a:custGeom>
            <a:avLst/>
            <a:gdLst/>
            <a:ahLst/>
            <a:cxnLst/>
            <a:rect r="r" b="b" t="t" l="l"/>
            <a:pathLst>
              <a:path h="6850510" w="8299378">
                <a:moveTo>
                  <a:pt x="0" y="0"/>
                </a:moveTo>
                <a:lnTo>
                  <a:pt x="8299378" y="0"/>
                </a:lnTo>
                <a:lnTo>
                  <a:pt x="8299378" y="6850510"/>
                </a:lnTo>
                <a:lnTo>
                  <a:pt x="0" y="68505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1042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77000" y="816820"/>
            <a:ext cx="9729890" cy="246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4"/>
              </a:lnSpc>
              <a:spcBef>
                <a:spcPct val="0"/>
              </a:spcBef>
            </a:pPr>
            <a:r>
              <a:rPr lang="en-US" sz="8120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FLUJO DE USUARIO (USER FLOW)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55711" y="218581"/>
            <a:ext cx="2639952" cy="1991964"/>
          </a:xfrm>
          <a:custGeom>
            <a:avLst/>
            <a:gdLst/>
            <a:ahLst/>
            <a:cxnLst/>
            <a:rect r="r" b="b" t="t" l="l"/>
            <a:pathLst>
              <a:path h="1991964" w="2639952">
                <a:moveTo>
                  <a:pt x="0" y="0"/>
                </a:moveTo>
                <a:lnTo>
                  <a:pt x="2639952" y="0"/>
                </a:lnTo>
                <a:lnTo>
                  <a:pt x="2639952" y="1991963"/>
                </a:lnTo>
                <a:lnTo>
                  <a:pt x="0" y="19919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9836">
            <a:off x="-101192" y="7137457"/>
            <a:ext cx="1654013" cy="3136922"/>
          </a:xfrm>
          <a:custGeom>
            <a:avLst/>
            <a:gdLst/>
            <a:ahLst/>
            <a:cxnLst/>
            <a:rect r="r" b="b" t="t" l="l"/>
            <a:pathLst>
              <a:path h="3136922" w="1654013">
                <a:moveTo>
                  <a:pt x="0" y="0"/>
                </a:moveTo>
                <a:lnTo>
                  <a:pt x="1654013" y="0"/>
                </a:lnTo>
                <a:lnTo>
                  <a:pt x="1654013" y="3136922"/>
                </a:lnTo>
                <a:lnTo>
                  <a:pt x="0" y="313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06305" y="965297"/>
            <a:ext cx="11004420" cy="1234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4"/>
              </a:lnSpc>
              <a:spcBef>
                <a:spcPct val="0"/>
              </a:spcBef>
            </a:pPr>
            <a:r>
              <a:rPr lang="en-US" sz="8120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MODELO DE NEGOCIO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377553">
            <a:off x="2600303" y="-5177592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64755">
            <a:off x="-4200577" y="8694661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2" y="0"/>
                </a:lnTo>
                <a:lnTo>
                  <a:pt x="19558042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1353605">
            <a:off x="14341043" y="9731746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50" y="0"/>
                </a:lnTo>
                <a:lnTo>
                  <a:pt x="4598650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779299">
            <a:off x="-754611" y="-354160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1145482"/>
                </a:moveTo>
                <a:lnTo>
                  <a:pt x="4598650" y="1145482"/>
                </a:lnTo>
                <a:lnTo>
                  <a:pt x="4598650" y="0"/>
                </a:lnTo>
                <a:lnTo>
                  <a:pt x="0" y="0"/>
                </a:lnTo>
                <a:lnTo>
                  <a:pt x="0" y="114548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5089" y="355301"/>
            <a:ext cx="2739250" cy="673399"/>
          </a:xfrm>
          <a:custGeom>
            <a:avLst/>
            <a:gdLst/>
            <a:ahLst/>
            <a:cxnLst/>
            <a:rect r="r" b="b" t="t" l="l"/>
            <a:pathLst>
              <a:path h="673399" w="2739250">
                <a:moveTo>
                  <a:pt x="0" y="0"/>
                </a:moveTo>
                <a:lnTo>
                  <a:pt x="2739250" y="0"/>
                </a:lnTo>
                <a:lnTo>
                  <a:pt x="2739250" y="673399"/>
                </a:lnTo>
                <a:lnTo>
                  <a:pt x="0" y="6733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4053" y="2269305"/>
            <a:ext cx="16061055" cy="6988995"/>
          </a:xfrm>
          <a:custGeom>
            <a:avLst/>
            <a:gdLst/>
            <a:ahLst/>
            <a:cxnLst/>
            <a:rect r="r" b="b" t="t" l="l"/>
            <a:pathLst>
              <a:path h="6988995" w="16061055">
                <a:moveTo>
                  <a:pt x="0" y="0"/>
                </a:moveTo>
                <a:lnTo>
                  <a:pt x="16061055" y="0"/>
                </a:lnTo>
                <a:lnTo>
                  <a:pt x="16061055" y="6988995"/>
                </a:lnTo>
                <a:lnTo>
                  <a:pt x="0" y="69889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4492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749166" y="930634"/>
            <a:ext cx="10565227" cy="186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9"/>
              </a:lnSpc>
              <a:spcBef>
                <a:spcPct val="0"/>
              </a:spcBef>
            </a:pPr>
            <a:r>
              <a:rPr lang="en-US" sz="6141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ARQUITECTURA TECNOLÓGICA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93155">
            <a:off x="3398532" y="-5294235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9"/>
                </a:lnTo>
                <a:lnTo>
                  <a:pt x="0" y="7309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420045">
            <a:off x="-4864367" y="8848330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2" y="0"/>
                </a:lnTo>
                <a:lnTo>
                  <a:pt x="19558042" y="7309819"/>
                </a:lnTo>
                <a:lnTo>
                  <a:pt x="0" y="7309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444009">
            <a:off x="13032712" y="9331241"/>
            <a:ext cx="5868476" cy="1461784"/>
          </a:xfrm>
          <a:custGeom>
            <a:avLst/>
            <a:gdLst/>
            <a:ahLst/>
            <a:cxnLst/>
            <a:rect r="r" b="b" t="t" l="l"/>
            <a:pathLst>
              <a:path h="1461784" w="5868476">
                <a:moveTo>
                  <a:pt x="0" y="0"/>
                </a:moveTo>
                <a:lnTo>
                  <a:pt x="5868477" y="0"/>
                </a:lnTo>
                <a:lnTo>
                  <a:pt x="5868477" y="1461784"/>
                </a:lnTo>
                <a:lnTo>
                  <a:pt x="0" y="14617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118462">
            <a:off x="-2047752" y="3768648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1145482"/>
                </a:moveTo>
                <a:lnTo>
                  <a:pt x="4598650" y="1145482"/>
                </a:lnTo>
                <a:lnTo>
                  <a:pt x="4598650" y="0"/>
                </a:lnTo>
                <a:lnTo>
                  <a:pt x="0" y="0"/>
                </a:lnTo>
                <a:lnTo>
                  <a:pt x="0" y="114548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882821">
            <a:off x="9024394" y="6115533"/>
            <a:ext cx="3213335" cy="2716728"/>
          </a:xfrm>
          <a:custGeom>
            <a:avLst/>
            <a:gdLst/>
            <a:ahLst/>
            <a:cxnLst/>
            <a:rect r="r" b="b" t="t" l="l"/>
            <a:pathLst>
              <a:path h="2716728" w="3213335">
                <a:moveTo>
                  <a:pt x="3213335" y="0"/>
                </a:moveTo>
                <a:lnTo>
                  <a:pt x="0" y="0"/>
                </a:lnTo>
                <a:lnTo>
                  <a:pt x="0" y="2716728"/>
                </a:lnTo>
                <a:lnTo>
                  <a:pt x="3213335" y="2716728"/>
                </a:lnTo>
                <a:lnTo>
                  <a:pt x="321333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2320" y="2997023"/>
            <a:ext cx="1784403" cy="1344366"/>
          </a:xfrm>
          <a:custGeom>
            <a:avLst/>
            <a:gdLst/>
            <a:ahLst/>
            <a:cxnLst/>
            <a:rect r="r" b="b" t="t" l="l"/>
            <a:pathLst>
              <a:path h="1344366" w="1784403">
                <a:moveTo>
                  <a:pt x="0" y="0"/>
                </a:moveTo>
                <a:lnTo>
                  <a:pt x="1784403" y="0"/>
                </a:lnTo>
                <a:lnTo>
                  <a:pt x="1784403" y="1344366"/>
                </a:lnTo>
                <a:lnTo>
                  <a:pt x="0" y="13443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32320" y="4541414"/>
            <a:ext cx="1784403" cy="1784403"/>
          </a:xfrm>
          <a:custGeom>
            <a:avLst/>
            <a:gdLst/>
            <a:ahLst/>
            <a:cxnLst/>
            <a:rect r="r" b="b" t="t" l="l"/>
            <a:pathLst>
              <a:path h="1784403" w="1784403">
                <a:moveTo>
                  <a:pt x="0" y="0"/>
                </a:moveTo>
                <a:lnTo>
                  <a:pt x="1784403" y="0"/>
                </a:lnTo>
                <a:lnTo>
                  <a:pt x="1784403" y="1784403"/>
                </a:lnTo>
                <a:lnTo>
                  <a:pt x="0" y="17844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08653" y="6592517"/>
            <a:ext cx="1784403" cy="1784403"/>
          </a:xfrm>
          <a:custGeom>
            <a:avLst/>
            <a:gdLst/>
            <a:ahLst/>
            <a:cxnLst/>
            <a:rect r="r" b="b" t="t" l="l"/>
            <a:pathLst>
              <a:path h="1784403" w="1784403">
                <a:moveTo>
                  <a:pt x="0" y="0"/>
                </a:moveTo>
                <a:lnTo>
                  <a:pt x="1784403" y="0"/>
                </a:lnTo>
                <a:lnTo>
                  <a:pt x="1784403" y="1784403"/>
                </a:lnTo>
                <a:lnTo>
                  <a:pt x="0" y="17844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10800000">
            <a:off x="2832387" y="3263902"/>
            <a:ext cx="1183627" cy="672246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10800000">
            <a:off x="2832387" y="4946645"/>
            <a:ext cx="1183627" cy="672246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10800000">
            <a:off x="2832387" y="8995348"/>
            <a:ext cx="1183627" cy="672246"/>
          </a:xfrm>
          <a:prstGeom prst="rect">
            <a:avLst/>
          </a:prstGeom>
        </p:spPr>
      </p:pic>
      <p:sp>
        <p:nvSpPr>
          <p:cNvPr name="Freeform 14" id="14"/>
          <p:cNvSpPr/>
          <p:nvPr/>
        </p:nvSpPr>
        <p:spPr>
          <a:xfrm flipH="false" flipV="false" rot="0">
            <a:off x="8103749" y="246128"/>
            <a:ext cx="3206245" cy="3235660"/>
          </a:xfrm>
          <a:custGeom>
            <a:avLst/>
            <a:gdLst/>
            <a:ahLst/>
            <a:cxnLst/>
            <a:rect r="r" b="b" t="t" l="l"/>
            <a:pathLst>
              <a:path h="3235660" w="3206245">
                <a:moveTo>
                  <a:pt x="0" y="0"/>
                </a:moveTo>
                <a:lnTo>
                  <a:pt x="3206245" y="0"/>
                </a:lnTo>
                <a:lnTo>
                  <a:pt x="3206245" y="3235660"/>
                </a:lnTo>
                <a:lnTo>
                  <a:pt x="0" y="3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710888" y="2730427"/>
            <a:ext cx="1336873" cy="1336873"/>
          </a:xfrm>
          <a:custGeom>
            <a:avLst/>
            <a:gdLst/>
            <a:ahLst/>
            <a:cxnLst/>
            <a:rect r="r" b="b" t="t" l="l"/>
            <a:pathLst>
              <a:path h="1336873" w="1336873">
                <a:moveTo>
                  <a:pt x="0" y="0"/>
                </a:moveTo>
                <a:lnTo>
                  <a:pt x="1336873" y="0"/>
                </a:lnTo>
                <a:lnTo>
                  <a:pt x="1336873" y="1336873"/>
                </a:lnTo>
                <a:lnTo>
                  <a:pt x="0" y="133687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-10800000">
            <a:off x="13230727" y="3091165"/>
            <a:ext cx="1183627" cy="672246"/>
          </a:xfrm>
          <a:prstGeom prst="rect">
            <a:avLst/>
          </a:prstGeom>
        </p:spPr>
      </p:pic>
      <p:sp>
        <p:nvSpPr>
          <p:cNvPr name="Freeform 17" id="17"/>
          <p:cNvSpPr/>
          <p:nvPr/>
        </p:nvSpPr>
        <p:spPr>
          <a:xfrm flipH="false" flipV="false" rot="0">
            <a:off x="11626141" y="4405236"/>
            <a:ext cx="1336873" cy="1280090"/>
          </a:xfrm>
          <a:custGeom>
            <a:avLst/>
            <a:gdLst/>
            <a:ahLst/>
            <a:cxnLst/>
            <a:rect r="r" b="b" t="t" l="l"/>
            <a:pathLst>
              <a:path h="1280090" w="1336873">
                <a:moveTo>
                  <a:pt x="0" y="0"/>
                </a:moveTo>
                <a:lnTo>
                  <a:pt x="1336873" y="0"/>
                </a:lnTo>
                <a:lnTo>
                  <a:pt x="1336873" y="1280091"/>
                </a:lnTo>
                <a:lnTo>
                  <a:pt x="0" y="12800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33143" t="-20417" r="-19044" b="-3852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516300" y="5899783"/>
            <a:ext cx="1644652" cy="1644652"/>
          </a:xfrm>
          <a:custGeom>
            <a:avLst/>
            <a:gdLst/>
            <a:ahLst/>
            <a:cxnLst/>
            <a:rect r="r" b="b" t="t" l="l"/>
            <a:pathLst>
              <a:path h="1644652" w="1644652">
                <a:moveTo>
                  <a:pt x="0" y="0"/>
                </a:moveTo>
                <a:lnTo>
                  <a:pt x="1644652" y="0"/>
                </a:lnTo>
                <a:lnTo>
                  <a:pt x="1644652" y="1644652"/>
                </a:lnTo>
                <a:lnTo>
                  <a:pt x="0" y="164465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626141" y="7499805"/>
            <a:ext cx="1742765" cy="1742765"/>
          </a:xfrm>
          <a:custGeom>
            <a:avLst/>
            <a:gdLst/>
            <a:ahLst/>
            <a:cxnLst/>
            <a:rect r="r" b="b" t="t" l="l"/>
            <a:pathLst>
              <a:path h="1742765" w="1742765">
                <a:moveTo>
                  <a:pt x="0" y="0"/>
                </a:moveTo>
                <a:lnTo>
                  <a:pt x="1742765" y="0"/>
                </a:lnTo>
                <a:lnTo>
                  <a:pt x="1742765" y="1742766"/>
                </a:lnTo>
                <a:lnTo>
                  <a:pt x="0" y="174276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869110" y="7076954"/>
            <a:ext cx="1369062" cy="793885"/>
          </a:xfrm>
          <a:custGeom>
            <a:avLst/>
            <a:gdLst/>
            <a:ahLst/>
            <a:cxnLst/>
            <a:rect r="r" b="b" t="t" l="l"/>
            <a:pathLst>
              <a:path h="793885" w="1369062">
                <a:moveTo>
                  <a:pt x="0" y="0"/>
                </a:moveTo>
                <a:lnTo>
                  <a:pt x="1369062" y="0"/>
                </a:lnTo>
                <a:lnTo>
                  <a:pt x="1369062" y="793886"/>
                </a:lnTo>
                <a:lnTo>
                  <a:pt x="0" y="79388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4677" t="-30093" r="-11317" b="0"/>
            </a:stretch>
          </a:blipFill>
        </p:spPr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-10800000">
            <a:off x="13270270" y="6385985"/>
            <a:ext cx="1183627" cy="672246"/>
          </a:xfrm>
          <a:prstGeom prst="rect">
            <a:avLst/>
          </a:prstGeom>
        </p:spPr>
      </p:pic>
      <p:sp>
        <p:nvSpPr>
          <p:cNvPr name="Freeform 22" id="22"/>
          <p:cNvSpPr/>
          <p:nvPr/>
        </p:nvSpPr>
        <p:spPr>
          <a:xfrm flipH="false" flipV="false" rot="0">
            <a:off x="13177553" y="8041693"/>
            <a:ext cx="1369062" cy="793885"/>
          </a:xfrm>
          <a:custGeom>
            <a:avLst/>
            <a:gdLst/>
            <a:ahLst/>
            <a:cxnLst/>
            <a:rect r="r" b="b" t="t" l="l"/>
            <a:pathLst>
              <a:path h="793885" w="1369062">
                <a:moveTo>
                  <a:pt x="0" y="0"/>
                </a:moveTo>
                <a:lnTo>
                  <a:pt x="1369062" y="0"/>
                </a:lnTo>
                <a:lnTo>
                  <a:pt x="1369062" y="793886"/>
                </a:lnTo>
                <a:lnTo>
                  <a:pt x="0" y="79388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4677" t="-30093" r="-11317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07003" y="168862"/>
            <a:ext cx="3387703" cy="859838"/>
          </a:xfrm>
          <a:custGeom>
            <a:avLst/>
            <a:gdLst/>
            <a:ahLst/>
            <a:cxnLst/>
            <a:rect r="r" b="b" t="t" l="l"/>
            <a:pathLst>
              <a:path h="859838" w="3387703">
                <a:moveTo>
                  <a:pt x="0" y="0"/>
                </a:moveTo>
                <a:lnTo>
                  <a:pt x="3387703" y="0"/>
                </a:lnTo>
                <a:lnTo>
                  <a:pt x="3387703" y="859838"/>
                </a:lnTo>
                <a:lnTo>
                  <a:pt x="0" y="85983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1622" t="0" r="-1622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04292" y="8576945"/>
            <a:ext cx="1509053" cy="1509053"/>
          </a:xfrm>
          <a:custGeom>
            <a:avLst/>
            <a:gdLst/>
            <a:ahLst/>
            <a:cxnLst/>
            <a:rect r="r" b="b" t="t" l="l"/>
            <a:pathLst>
              <a:path h="1509053" w="1509053">
                <a:moveTo>
                  <a:pt x="0" y="0"/>
                </a:moveTo>
                <a:lnTo>
                  <a:pt x="1509052" y="0"/>
                </a:lnTo>
                <a:lnTo>
                  <a:pt x="1509052" y="1509053"/>
                </a:lnTo>
                <a:lnTo>
                  <a:pt x="0" y="1509053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203129" y="3295863"/>
            <a:ext cx="47244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5D5C5C"/>
                </a:solidFill>
                <a:latin typeface="Open Sans"/>
                <a:ea typeface="Open Sans"/>
                <a:cs typeface="Open Sans"/>
                <a:sym typeface="Open Sans"/>
              </a:rPr>
              <a:t>Frontend: Flutter (Dart)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60424" y="4978606"/>
            <a:ext cx="37433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5D5C5C"/>
                </a:solidFill>
                <a:latin typeface="Open Sans"/>
                <a:ea typeface="Open Sans"/>
                <a:cs typeface="Open Sans"/>
                <a:sym typeface="Open Sans"/>
              </a:rPr>
              <a:t>Backend: FireBase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03129" y="6525842"/>
            <a:ext cx="437804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5D5C5C"/>
                </a:solidFill>
                <a:latin typeface="Open Sans"/>
                <a:ea typeface="Open Sans"/>
                <a:cs typeface="Open Sans"/>
                <a:sym typeface="Open Sans"/>
              </a:rPr>
              <a:t>Base de datos: Cloud Firestore (dentro de Firebase)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42834" y="1397296"/>
            <a:ext cx="3479962" cy="933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9"/>
              </a:lnSpc>
              <a:spcBef>
                <a:spcPct val="0"/>
              </a:spcBef>
            </a:pPr>
            <a:r>
              <a:rPr lang="en-US" sz="6141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API’S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484130" y="2738968"/>
            <a:ext cx="3485667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5D5C5C"/>
                </a:solidFill>
                <a:latin typeface="Open Sans"/>
                <a:ea typeface="Open Sans"/>
                <a:cs typeface="Open Sans"/>
                <a:sym typeface="Open Sans"/>
              </a:rPr>
              <a:t>Gooogle Fit API (Pasos)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399383" y="4338561"/>
            <a:ext cx="3485667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5D5C5C"/>
                </a:solidFill>
                <a:latin typeface="Open Sans"/>
                <a:ea typeface="Open Sans"/>
                <a:cs typeface="Open Sans"/>
                <a:sym typeface="Open Sans"/>
              </a:rPr>
              <a:t>Apple Health API (Pasos)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05304" y="5868509"/>
            <a:ext cx="3243319" cy="1518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</a:pPr>
            <a:r>
              <a:rPr lang="en-US" sz="2918">
                <a:solidFill>
                  <a:srgbClr val="5D5C5C"/>
                </a:solidFill>
                <a:latin typeface="Open Sans"/>
                <a:ea typeface="Open Sans"/>
                <a:cs typeface="Open Sans"/>
                <a:sym typeface="Open Sans"/>
              </a:rPr>
              <a:t>FireBase Authentication</a:t>
            </a:r>
          </a:p>
          <a:p>
            <a:pPr algn="ctr">
              <a:lnSpc>
                <a:spcPts val="4085"/>
              </a:lnSpc>
            </a:pPr>
            <a:r>
              <a:rPr lang="en-US" sz="2918">
                <a:solidFill>
                  <a:srgbClr val="5D5C5C"/>
                </a:solidFill>
                <a:latin typeface="Open Sans"/>
                <a:ea typeface="Open Sans"/>
                <a:cs typeface="Open Sans"/>
                <a:sym typeface="Open Sans"/>
              </a:rPr>
              <a:t>(Login)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605304" y="7636063"/>
            <a:ext cx="3170463" cy="160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9"/>
              </a:lnSpc>
            </a:pPr>
            <a:r>
              <a:rPr lang="en-US" sz="3092">
                <a:solidFill>
                  <a:srgbClr val="5D5C5C"/>
                </a:solidFill>
                <a:latin typeface="Open Sans"/>
                <a:ea typeface="Open Sans"/>
                <a:cs typeface="Open Sans"/>
                <a:sym typeface="Open Sans"/>
              </a:rPr>
              <a:t>FireBase Cloud Messaging</a:t>
            </a:r>
          </a:p>
          <a:p>
            <a:pPr algn="ctr">
              <a:lnSpc>
                <a:spcPts val="4329"/>
              </a:lnSpc>
            </a:pPr>
            <a:r>
              <a:rPr lang="en-US" sz="3092">
                <a:solidFill>
                  <a:srgbClr val="5D5C5C"/>
                </a:solidFill>
                <a:latin typeface="Open Sans"/>
                <a:ea typeface="Open Sans"/>
                <a:cs typeface="Open Sans"/>
                <a:sym typeface="Open Sans"/>
              </a:rPr>
              <a:t>(Notificaciones)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3245207" y="4760643"/>
            <a:ext cx="1369062" cy="793885"/>
          </a:xfrm>
          <a:custGeom>
            <a:avLst/>
            <a:gdLst/>
            <a:ahLst/>
            <a:cxnLst/>
            <a:rect r="r" b="b" t="t" l="l"/>
            <a:pathLst>
              <a:path h="793885" w="1369062">
                <a:moveTo>
                  <a:pt x="0" y="0"/>
                </a:moveTo>
                <a:lnTo>
                  <a:pt x="1369062" y="0"/>
                </a:lnTo>
                <a:lnTo>
                  <a:pt x="1369062" y="793886"/>
                </a:lnTo>
                <a:lnTo>
                  <a:pt x="0" y="79388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4677" t="-30093" r="-11317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4238172" y="8768904"/>
            <a:ext cx="437804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5D5C5C"/>
                </a:solidFill>
                <a:latin typeface="Open Sans"/>
                <a:ea typeface="Open Sans"/>
                <a:cs typeface="Open Sans"/>
                <a:sym typeface="Open Sans"/>
              </a:rPr>
              <a:t>Testing: frontend y backend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28871" y="1637168"/>
            <a:ext cx="8030258" cy="2372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28"/>
              </a:lnSpc>
              <a:spcBef>
                <a:spcPct val="0"/>
              </a:spcBef>
            </a:pPr>
            <a:r>
              <a:rPr lang="en-US" sz="7773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EQUIPO DE TRABAJO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795174">
            <a:off x="2600303" y="-5177592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353605">
            <a:off x="14778049" y="475686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50" y="0"/>
                </a:lnTo>
                <a:lnTo>
                  <a:pt x="4598650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86165">
            <a:off x="2116947" y="1712857"/>
            <a:ext cx="2717365" cy="2376459"/>
          </a:xfrm>
          <a:custGeom>
            <a:avLst/>
            <a:gdLst/>
            <a:ahLst/>
            <a:cxnLst/>
            <a:rect r="r" b="b" t="t" l="l"/>
            <a:pathLst>
              <a:path h="2376459" w="2717365">
                <a:moveTo>
                  <a:pt x="0" y="0"/>
                </a:moveTo>
                <a:lnTo>
                  <a:pt x="2717364" y="0"/>
                </a:lnTo>
                <a:lnTo>
                  <a:pt x="2717364" y="2376459"/>
                </a:lnTo>
                <a:lnTo>
                  <a:pt x="0" y="23764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59129" y="1646693"/>
            <a:ext cx="2084573" cy="2508786"/>
          </a:xfrm>
          <a:custGeom>
            <a:avLst/>
            <a:gdLst/>
            <a:ahLst/>
            <a:cxnLst/>
            <a:rect r="r" b="b" t="t" l="l"/>
            <a:pathLst>
              <a:path h="2508786" w="2084573">
                <a:moveTo>
                  <a:pt x="0" y="0"/>
                </a:moveTo>
                <a:lnTo>
                  <a:pt x="2084573" y="0"/>
                </a:lnTo>
                <a:lnTo>
                  <a:pt x="2084573" y="2508786"/>
                </a:lnTo>
                <a:lnTo>
                  <a:pt x="0" y="25087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4310" y="290216"/>
            <a:ext cx="3702349" cy="910161"/>
          </a:xfrm>
          <a:custGeom>
            <a:avLst/>
            <a:gdLst/>
            <a:ahLst/>
            <a:cxnLst/>
            <a:rect r="r" b="b" t="t" l="l"/>
            <a:pathLst>
              <a:path h="910161" w="3702349">
                <a:moveTo>
                  <a:pt x="0" y="0"/>
                </a:moveTo>
                <a:lnTo>
                  <a:pt x="3702349" y="0"/>
                </a:lnTo>
                <a:lnTo>
                  <a:pt x="3702349" y="910161"/>
                </a:lnTo>
                <a:lnTo>
                  <a:pt x="0" y="9101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562140" y="4398803"/>
          <a:ext cx="13635911" cy="4859497"/>
        </p:xfrm>
        <a:graphic>
          <a:graphicData uri="http://schemas.openxmlformats.org/drawingml/2006/table">
            <a:tbl>
              <a:tblPr/>
              <a:tblGrid>
                <a:gridCol w="4090057"/>
                <a:gridCol w="4974477"/>
                <a:gridCol w="4571377"/>
              </a:tblGrid>
              <a:tr h="8672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4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Cargo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4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Función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431"/>
                    </a:solidFill>
                  </a:tcPr>
                </a:tc>
              </a:tr>
              <a:tr h="13732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Paz Osorio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1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Jefa de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1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coordinación del equipo, gestión de tiempos, y apoyo en el desarrollo.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1E3"/>
                    </a:solidFill>
                  </a:tcPr>
                </a:tc>
              </a:tr>
              <a:tr h="12364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Isaias Vejar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1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Programador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1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desarrollo del frontend en Flutter y la integración con Firebase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1E3"/>
                    </a:solidFill>
                  </a:tcPr>
                </a:tc>
              </a:tr>
              <a:tr h="13824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Danilo Bettancourt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1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QA / Tester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1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pruebas funcionales, detección de bugs y validación de los módulos antes de cada entrega.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1E3"/>
                    </a:solidFill>
                  </a:tcPr>
                </a:tc>
              </a:tr>
            </a:tbl>
          </a:graphicData>
        </a:graphic>
      </p:graphicFrame>
      <p:sp>
        <p:nvSpPr>
          <p:cNvPr name="Freeform 9" id="9"/>
          <p:cNvSpPr/>
          <p:nvPr/>
        </p:nvSpPr>
        <p:spPr>
          <a:xfrm flipH="false" flipV="false" rot="-1353605">
            <a:off x="-1974669" y="9180304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50" y="0"/>
                </a:lnTo>
                <a:lnTo>
                  <a:pt x="4598650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24381" y="819753"/>
            <a:ext cx="1392836" cy="1321928"/>
          </a:xfrm>
          <a:custGeom>
            <a:avLst/>
            <a:gdLst/>
            <a:ahLst/>
            <a:cxnLst/>
            <a:rect r="r" b="b" t="t" l="l"/>
            <a:pathLst>
              <a:path h="1321928" w="1392836">
                <a:moveTo>
                  <a:pt x="0" y="0"/>
                </a:moveTo>
                <a:lnTo>
                  <a:pt x="1392836" y="0"/>
                </a:lnTo>
                <a:lnTo>
                  <a:pt x="1392836" y="1321929"/>
                </a:lnTo>
                <a:lnTo>
                  <a:pt x="0" y="1321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76119" y="1028700"/>
            <a:ext cx="9935761" cy="1234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4"/>
              </a:lnSpc>
              <a:spcBef>
                <a:spcPct val="0"/>
              </a:spcBef>
            </a:pPr>
            <a:r>
              <a:rPr lang="en-US" sz="8120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KPIS DEL PROYECTO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91970">
            <a:off x="3586610" y="-5465625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2" y="0"/>
                </a:lnTo>
                <a:lnTo>
                  <a:pt x="19558042" y="7309819"/>
                </a:lnTo>
                <a:lnTo>
                  <a:pt x="0" y="7309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40711">
            <a:off x="-3276834" y="8776895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2" y="0"/>
                </a:lnTo>
                <a:lnTo>
                  <a:pt x="19558042" y="7309819"/>
                </a:lnTo>
                <a:lnTo>
                  <a:pt x="0" y="7309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843765">
            <a:off x="13458947" y="9416046"/>
            <a:ext cx="6108013" cy="1521450"/>
          </a:xfrm>
          <a:custGeom>
            <a:avLst/>
            <a:gdLst/>
            <a:ahLst/>
            <a:cxnLst/>
            <a:rect r="r" b="b" t="t" l="l"/>
            <a:pathLst>
              <a:path h="1521450" w="6108013">
                <a:moveTo>
                  <a:pt x="0" y="0"/>
                </a:moveTo>
                <a:lnTo>
                  <a:pt x="6108013" y="0"/>
                </a:lnTo>
                <a:lnTo>
                  <a:pt x="6108013" y="1521451"/>
                </a:lnTo>
                <a:lnTo>
                  <a:pt x="0" y="15214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353605">
            <a:off x="-1643495" y="-150432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50" y="0"/>
                </a:lnTo>
                <a:lnTo>
                  <a:pt x="4598650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749763" y="2262858"/>
          <a:ext cx="16788474" cy="6817918"/>
        </p:xfrm>
        <a:graphic>
          <a:graphicData uri="http://schemas.openxmlformats.org/drawingml/2006/table">
            <a:tbl>
              <a:tblPr/>
              <a:tblGrid>
                <a:gridCol w="2213137"/>
                <a:gridCol w="3014178"/>
                <a:gridCol w="2244257"/>
                <a:gridCol w="3562864"/>
                <a:gridCol w="2944420"/>
                <a:gridCol w="2809618"/>
              </a:tblGrid>
              <a:tr h="10632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KPI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4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4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Meta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4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Momento de medicion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4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Como se mide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4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Fuente de datos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431"/>
                    </a:solidFill>
                  </a:tcPr>
                </a:tc>
              </a:tr>
              <a:tr h="17045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% de requisitos core de APP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(requisitos funcionales core / Número total de requisitos funcionales core definidos) × 100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≥ 85%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(ideal ≥ 90%)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Al finalizar la Fase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Solo se consideran “completados” aquellos que pasaron pruebas funcionales básicas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Documento de requerimientos y Checklist de verificación funcional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7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% de usuarios que registran tanto entrenamiento como comida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(Usuarios que registraron al menos 1 entrenamiento y 1 comida / Total de usuarios de prueba) × 100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≥ 60%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Al finalizar el período de pruebas con usuarios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Se revisa el historial de los usuarios de prueba y se verificasi utilizo ambos modulos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Base de datos de la aplicación / Registro de actividad de usuarios de prueba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34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% de usuarios que siguen usando la app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(Usuarios activos al día 7 / Usuarios que iniciaron la prueba en el día 1) × 100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≥ 30-40%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Al día 7 del período de pruebas con usuarios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Se considera “usuario activo” a aquel que abrió la app o registró al menos una actividad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nty Sans"/>
                          <a:ea typeface="Genty Sans"/>
                          <a:cs typeface="Genty Sans"/>
                          <a:sym typeface="Genty Sans"/>
                        </a:rPr>
                        <a:t>Analytics de la aplicación (Firebase Analytics)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9" id="9"/>
          <p:cNvSpPr/>
          <p:nvPr/>
        </p:nvSpPr>
        <p:spPr>
          <a:xfrm flipH="false" flipV="false" rot="0">
            <a:off x="655830" y="8696769"/>
            <a:ext cx="1514916" cy="1823202"/>
          </a:xfrm>
          <a:custGeom>
            <a:avLst/>
            <a:gdLst/>
            <a:ahLst/>
            <a:cxnLst/>
            <a:rect r="r" b="b" t="t" l="l"/>
            <a:pathLst>
              <a:path h="1823202" w="1514916">
                <a:moveTo>
                  <a:pt x="0" y="0"/>
                </a:moveTo>
                <a:lnTo>
                  <a:pt x="1514916" y="0"/>
                </a:lnTo>
                <a:lnTo>
                  <a:pt x="1514916" y="1823202"/>
                </a:lnTo>
                <a:lnTo>
                  <a:pt x="0" y="18232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990" y="245026"/>
            <a:ext cx="3187827" cy="783674"/>
          </a:xfrm>
          <a:custGeom>
            <a:avLst/>
            <a:gdLst/>
            <a:ahLst/>
            <a:cxnLst/>
            <a:rect r="r" b="b" t="t" l="l"/>
            <a:pathLst>
              <a:path h="783674" w="3187827">
                <a:moveTo>
                  <a:pt x="0" y="0"/>
                </a:moveTo>
                <a:lnTo>
                  <a:pt x="3187826" y="0"/>
                </a:lnTo>
                <a:lnTo>
                  <a:pt x="3187826" y="783674"/>
                </a:lnTo>
                <a:lnTo>
                  <a:pt x="0" y="7836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75499" y="1142997"/>
            <a:ext cx="8030258" cy="2372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28"/>
              </a:lnSpc>
              <a:spcBef>
                <a:spcPct val="0"/>
              </a:spcBef>
            </a:pPr>
            <a:r>
              <a:rPr lang="en-US" sz="7773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PLAN DE TRABAJO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795174">
            <a:off x="2600303" y="-5177592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795174">
            <a:off x="-4612695" y="8060633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2" y="0"/>
                </a:lnTo>
                <a:lnTo>
                  <a:pt x="19558042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4898804">
            <a:off x="15988675" y="7701530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50" y="0"/>
                </a:lnTo>
                <a:lnTo>
                  <a:pt x="4598650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53605">
            <a:off x="-1201664" y="-412712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50" y="0"/>
                </a:lnTo>
                <a:lnTo>
                  <a:pt x="4598650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13227">
            <a:off x="2520554" y="4315307"/>
            <a:ext cx="2227619" cy="4861867"/>
          </a:xfrm>
          <a:custGeom>
            <a:avLst/>
            <a:gdLst/>
            <a:ahLst/>
            <a:cxnLst/>
            <a:rect r="r" b="b" t="t" l="l"/>
            <a:pathLst>
              <a:path h="4861867" w="2227619">
                <a:moveTo>
                  <a:pt x="0" y="0"/>
                </a:moveTo>
                <a:lnTo>
                  <a:pt x="2227619" y="0"/>
                </a:lnTo>
                <a:lnTo>
                  <a:pt x="2227619" y="4861867"/>
                </a:lnTo>
                <a:lnTo>
                  <a:pt x="0" y="4861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1488" y="0"/>
            <a:ext cx="3662732" cy="900422"/>
          </a:xfrm>
          <a:custGeom>
            <a:avLst/>
            <a:gdLst/>
            <a:ahLst/>
            <a:cxnLst/>
            <a:rect r="r" b="b" t="t" l="l"/>
            <a:pathLst>
              <a:path h="900422" w="3662732">
                <a:moveTo>
                  <a:pt x="0" y="0"/>
                </a:moveTo>
                <a:lnTo>
                  <a:pt x="3662733" y="0"/>
                </a:lnTo>
                <a:lnTo>
                  <a:pt x="3662733" y="900422"/>
                </a:lnTo>
                <a:lnTo>
                  <a:pt x="0" y="9004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70897" y="900422"/>
            <a:ext cx="10051805" cy="9013065"/>
          </a:xfrm>
          <a:custGeom>
            <a:avLst/>
            <a:gdLst/>
            <a:ahLst/>
            <a:cxnLst/>
            <a:rect r="r" b="b" t="t" l="l"/>
            <a:pathLst>
              <a:path h="9013065" w="10051805">
                <a:moveTo>
                  <a:pt x="0" y="0"/>
                </a:moveTo>
                <a:lnTo>
                  <a:pt x="10051804" y="0"/>
                </a:lnTo>
                <a:lnTo>
                  <a:pt x="10051804" y="9013065"/>
                </a:lnTo>
                <a:lnTo>
                  <a:pt x="0" y="90130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010909">
            <a:off x="15893348" y="268057"/>
            <a:ext cx="3519779" cy="3078207"/>
          </a:xfrm>
          <a:custGeom>
            <a:avLst/>
            <a:gdLst/>
            <a:ahLst/>
            <a:cxnLst/>
            <a:rect r="r" b="b" t="t" l="l"/>
            <a:pathLst>
              <a:path h="3078207" w="3519779">
                <a:moveTo>
                  <a:pt x="0" y="0"/>
                </a:moveTo>
                <a:lnTo>
                  <a:pt x="3519779" y="0"/>
                </a:lnTo>
                <a:lnTo>
                  <a:pt x="3519779" y="3078207"/>
                </a:lnTo>
                <a:lnTo>
                  <a:pt x="0" y="30782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5174">
            <a:off x="2600303" y="-5177592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795174">
            <a:off x="-4612695" y="8060633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2" y="0"/>
                </a:lnTo>
                <a:lnTo>
                  <a:pt x="19558042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4898804">
            <a:off x="15988675" y="7701530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50" y="0"/>
                </a:lnTo>
                <a:lnTo>
                  <a:pt x="4598650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53605">
            <a:off x="-1201664" y="-412712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50" y="0"/>
                </a:lnTo>
                <a:lnTo>
                  <a:pt x="4598650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13227">
            <a:off x="658127" y="3193680"/>
            <a:ext cx="2227619" cy="4861867"/>
          </a:xfrm>
          <a:custGeom>
            <a:avLst/>
            <a:gdLst/>
            <a:ahLst/>
            <a:cxnLst/>
            <a:rect r="r" b="b" t="t" l="l"/>
            <a:pathLst>
              <a:path h="4861867" w="2227619">
                <a:moveTo>
                  <a:pt x="0" y="0"/>
                </a:moveTo>
                <a:lnTo>
                  <a:pt x="2227619" y="0"/>
                </a:lnTo>
                <a:lnTo>
                  <a:pt x="2227619" y="4861868"/>
                </a:lnTo>
                <a:lnTo>
                  <a:pt x="0" y="48618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10909">
            <a:off x="14915753" y="31980"/>
            <a:ext cx="3519779" cy="3078207"/>
          </a:xfrm>
          <a:custGeom>
            <a:avLst/>
            <a:gdLst/>
            <a:ahLst/>
            <a:cxnLst/>
            <a:rect r="r" b="b" t="t" l="l"/>
            <a:pathLst>
              <a:path h="3078207" w="3519779">
                <a:moveTo>
                  <a:pt x="0" y="0"/>
                </a:moveTo>
                <a:lnTo>
                  <a:pt x="3519780" y="0"/>
                </a:lnTo>
                <a:lnTo>
                  <a:pt x="3519780" y="3078207"/>
                </a:lnTo>
                <a:lnTo>
                  <a:pt x="0" y="30782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1488" y="0"/>
            <a:ext cx="3662732" cy="900422"/>
          </a:xfrm>
          <a:custGeom>
            <a:avLst/>
            <a:gdLst/>
            <a:ahLst/>
            <a:cxnLst/>
            <a:rect r="r" b="b" t="t" l="l"/>
            <a:pathLst>
              <a:path h="900422" w="3662732">
                <a:moveTo>
                  <a:pt x="0" y="0"/>
                </a:moveTo>
                <a:lnTo>
                  <a:pt x="3662733" y="0"/>
                </a:lnTo>
                <a:lnTo>
                  <a:pt x="3662733" y="900422"/>
                </a:lnTo>
                <a:lnTo>
                  <a:pt x="0" y="9004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166326" y="2752457"/>
            <a:ext cx="10701304" cy="7280997"/>
          </a:xfrm>
          <a:custGeom>
            <a:avLst/>
            <a:gdLst/>
            <a:ahLst/>
            <a:cxnLst/>
            <a:rect r="r" b="b" t="t" l="l"/>
            <a:pathLst>
              <a:path h="7280997" w="10701304">
                <a:moveTo>
                  <a:pt x="0" y="0"/>
                </a:moveTo>
                <a:lnTo>
                  <a:pt x="10701304" y="0"/>
                </a:lnTo>
                <a:lnTo>
                  <a:pt x="10701304" y="7280997"/>
                </a:lnTo>
                <a:lnTo>
                  <a:pt x="0" y="7280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1488" y="1561559"/>
            <a:ext cx="8030258" cy="119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28"/>
              </a:lnSpc>
              <a:spcBef>
                <a:spcPct val="0"/>
              </a:spcBef>
            </a:pPr>
            <a:r>
              <a:rPr lang="en-US" sz="7773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 CRONOGRAMA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4758" y="3626715"/>
            <a:ext cx="8085247" cy="456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3"/>
              </a:lnSpc>
              <a:spcBef>
                <a:spcPct val="0"/>
              </a:spcBef>
            </a:pPr>
            <a:r>
              <a:rPr lang="en-US" sz="3011">
                <a:solidFill>
                  <a:srgbClr val="5D5C5C"/>
                </a:solidFill>
                <a:latin typeface="Hero"/>
                <a:ea typeface="Hero"/>
                <a:cs typeface="Hero"/>
                <a:sym typeface="Hero"/>
              </a:rPr>
              <a:t>BalanCore busca facilitar el cuidado de la salud mediante una platarfoma, la aplicacion, reune cuidado alimenticio, hidratacion, rutina de ejercicios y un seguimiento de pasos en un solo lugar, su diseño permite a los usuarios visualizar facilmente sus habitos y a cumplir su objetivo personal, en conclusion, Balancore busca una solucion a las necesidades de los usuarios chilenos.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795174">
            <a:off x="2600303" y="-5177592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3" y="0"/>
                </a:lnTo>
                <a:lnTo>
                  <a:pt x="19558043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795174">
            <a:off x="-4612695" y="8060633"/>
            <a:ext cx="19558042" cy="7309818"/>
          </a:xfrm>
          <a:custGeom>
            <a:avLst/>
            <a:gdLst/>
            <a:ahLst/>
            <a:cxnLst/>
            <a:rect r="r" b="b" t="t" l="l"/>
            <a:pathLst>
              <a:path h="7309818" w="19558042">
                <a:moveTo>
                  <a:pt x="0" y="0"/>
                </a:moveTo>
                <a:lnTo>
                  <a:pt x="19558042" y="0"/>
                </a:lnTo>
                <a:lnTo>
                  <a:pt x="19558042" y="7309818"/>
                </a:lnTo>
                <a:lnTo>
                  <a:pt x="0" y="730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1353605">
            <a:off x="16401241" y="4202097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2"/>
                </a:lnTo>
                <a:lnTo>
                  <a:pt x="0" y="114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53605">
            <a:off x="-2764297" y="1867014"/>
            <a:ext cx="4598649" cy="1145482"/>
          </a:xfrm>
          <a:custGeom>
            <a:avLst/>
            <a:gdLst/>
            <a:ahLst/>
            <a:cxnLst/>
            <a:rect r="r" b="b" t="t" l="l"/>
            <a:pathLst>
              <a:path h="1145482" w="4598649">
                <a:moveTo>
                  <a:pt x="0" y="0"/>
                </a:moveTo>
                <a:lnTo>
                  <a:pt x="4598649" y="0"/>
                </a:lnTo>
                <a:lnTo>
                  <a:pt x="4598649" y="1145481"/>
                </a:lnTo>
                <a:lnTo>
                  <a:pt x="0" y="1145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38969" y="2701441"/>
            <a:ext cx="4091427" cy="6429385"/>
          </a:xfrm>
          <a:custGeom>
            <a:avLst/>
            <a:gdLst/>
            <a:ahLst/>
            <a:cxnLst/>
            <a:rect r="r" b="b" t="t" l="l"/>
            <a:pathLst>
              <a:path h="6429385" w="4091427">
                <a:moveTo>
                  <a:pt x="0" y="0"/>
                </a:moveTo>
                <a:lnTo>
                  <a:pt x="4091427" y="0"/>
                </a:lnTo>
                <a:lnTo>
                  <a:pt x="4091427" y="6429385"/>
                </a:lnTo>
                <a:lnTo>
                  <a:pt x="0" y="64293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0209" y="346274"/>
            <a:ext cx="3385292" cy="832218"/>
          </a:xfrm>
          <a:custGeom>
            <a:avLst/>
            <a:gdLst/>
            <a:ahLst/>
            <a:cxnLst/>
            <a:rect r="r" b="b" t="t" l="l"/>
            <a:pathLst>
              <a:path h="832218" w="3385292">
                <a:moveTo>
                  <a:pt x="0" y="0"/>
                </a:moveTo>
                <a:lnTo>
                  <a:pt x="3385292" y="0"/>
                </a:lnTo>
                <a:lnTo>
                  <a:pt x="3385292" y="832218"/>
                </a:lnTo>
                <a:lnTo>
                  <a:pt x="0" y="8322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220843"/>
            <a:ext cx="10377363" cy="1234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4"/>
              </a:lnSpc>
              <a:spcBef>
                <a:spcPct val="0"/>
              </a:spcBef>
            </a:pPr>
            <a:r>
              <a:rPr lang="en-US" sz="8120">
                <a:solidFill>
                  <a:srgbClr val="B9B8B8"/>
                </a:solidFill>
                <a:latin typeface="Genty Sans"/>
                <a:ea typeface="Genty Sans"/>
                <a:cs typeface="Genty Sans"/>
                <a:sym typeface="Genty Sans"/>
              </a:rPr>
              <a:t>CONCLUSIONES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DAHTi4q0U3E</dc:identifier>
  <dcterms:modified xsi:type="dcterms:W3CDTF">2011-08-01T06:04:30Z</dcterms:modified>
  <cp:revision>1</cp:revision>
  <dc:title>Mint Green Playful Health and Strength Presentation</dc:title>
</cp:coreProperties>
</file>